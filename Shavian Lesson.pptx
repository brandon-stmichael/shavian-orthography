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9" r:id="rId1"/>
  </p:sldMasterIdLst>
  <p:notesMasterIdLst>
    <p:notesMasterId r:id="rId74"/>
  </p:notesMasterIdLst>
  <p:sldIdLst>
    <p:sldId id="264" r:id="rId2"/>
    <p:sldId id="266" r:id="rId3"/>
    <p:sldId id="267" r:id="rId4"/>
    <p:sldId id="268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3" r:id="rId25"/>
    <p:sldId id="294" r:id="rId26"/>
    <p:sldId id="290" r:id="rId27"/>
    <p:sldId id="291" r:id="rId28"/>
    <p:sldId id="292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4" r:id="rId38"/>
    <p:sldId id="303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259" r:id="rId72"/>
    <p:sldId id="260" r:id="rId73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75"/>
      <p:bold r:id="rId76"/>
      <p:italic r:id="rId77"/>
      <p:boldItalic r:id="rId78"/>
    </p:embeddedFont>
    <p:embeddedFont>
      <p:font typeface="Calibri" panose="020F0502020204030204" pitchFamily="34" charset="0"/>
      <p:regular r:id="rId79"/>
      <p:bold r:id="rId80"/>
      <p:italic r:id="rId81"/>
      <p:boldItalic r:id="rId82"/>
    </p:embeddedFont>
    <p:embeddedFont>
      <p:font typeface="Impact" panose="020B0806030902050204" pitchFamily="34" charset="0"/>
      <p:regular r:id="rId83"/>
    </p:embeddedFont>
    <p:embeddedFont>
      <p:font typeface="Inter Alia" panose="02000503000000020004" pitchFamily="2" charset="0"/>
      <p:regular r:id="rId84"/>
      <p:bold r:id="rId85"/>
      <p:italic r:id="rId86"/>
      <p:boldItalic r:id="rId87"/>
    </p:embeddedFont>
    <p:embeddedFont>
      <p:font typeface="Inter Alia Extra Bold" panose="02000903000000020004" pitchFamily="2" charset="0"/>
      <p:bold r:id="rId88"/>
      <p:boldItalic r:id="rId89"/>
    </p:embeddedFont>
    <p:embeddedFont>
      <p:font typeface="Monotype Sorts" panose="01010601010101010101" charset="2"/>
      <p:regular r:id="rId90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font" Target="fonts/font2.fntdata" /><Relationship Id="rId84" Type="http://schemas.openxmlformats.org/officeDocument/2006/relationships/font" Target="fonts/font10.fntdata" /><Relationship Id="rId89" Type="http://schemas.openxmlformats.org/officeDocument/2006/relationships/font" Target="fonts/font15.fntdata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notesMaster" Target="notesMasters/notesMaster1.xml" /><Relationship Id="rId79" Type="http://schemas.openxmlformats.org/officeDocument/2006/relationships/font" Target="fonts/font5.fntdata" /><Relationship Id="rId87" Type="http://schemas.openxmlformats.org/officeDocument/2006/relationships/font" Target="fonts/font13.fntdata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font" Target="fonts/font8.fntdata" /><Relationship Id="rId90" Type="http://schemas.openxmlformats.org/officeDocument/2006/relationships/font" Target="fonts/font16.fntdata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font" Target="fonts/font3.fntdata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font" Target="fonts/font6.fntdata" /><Relationship Id="rId85" Type="http://schemas.openxmlformats.org/officeDocument/2006/relationships/font" Target="fonts/font11.fntdata" /><Relationship Id="rId93" Type="http://schemas.openxmlformats.org/officeDocument/2006/relationships/theme" Target="theme/theme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font" Target="fonts/font1.fntdata" /><Relationship Id="rId83" Type="http://schemas.openxmlformats.org/officeDocument/2006/relationships/font" Target="fonts/font9.fntdata" /><Relationship Id="rId88" Type="http://schemas.openxmlformats.org/officeDocument/2006/relationships/font" Target="fonts/font14.fntdata" /><Relationship Id="rId9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font" Target="fonts/font4.fntdata" /><Relationship Id="rId81" Type="http://schemas.openxmlformats.org/officeDocument/2006/relationships/font" Target="fonts/font7.fntdata" /><Relationship Id="rId86" Type="http://schemas.openxmlformats.org/officeDocument/2006/relationships/font" Target="fonts/font12.fntdata" /><Relationship Id="rId94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93691-8A9B-6044-918F-853D2A495F1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94A82-B064-B644-9B86-DB6AE9162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4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https://en.wikipedia.org/wiki/Ampersand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94A82-B064-B644-9B86-DB6AE9162A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59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“Man Of Steel,” there’s a quote, “It’s not an ‘S’.”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94A82-B064-B644-9B86-DB6AE9162A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8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5FBDEB-F833-79AB-5A84-FD12004D227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61D8FF1-9BDD-C451-07BC-78443DC93DE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5760" cy="5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E16A0B6-D05F-3DAB-C12E-8029726918E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147"/>
              <a:ext cx="5760" cy="117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5" name="Group 10">
            <a:extLst>
              <a:ext uri="{FF2B5EF4-FFF2-40B4-BE49-F238E27FC236}">
                <a16:creationId xmlns:a16="http://schemas.microsoft.com/office/drawing/2014/main" id="{2AEEF0A3-7B55-4815-6954-BBC56BC17A6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14325"/>
            <a:ext cx="847725" cy="6543675"/>
            <a:chOff x="96" y="198"/>
            <a:chExt cx="534" cy="4122"/>
          </a:xfrm>
        </p:grpSpPr>
        <p:sp>
          <p:nvSpPr>
            <p:cNvPr id="6" name="AutoShape 11">
              <a:extLst>
                <a:ext uri="{FF2B5EF4-FFF2-40B4-BE49-F238E27FC236}">
                  <a16:creationId xmlns:a16="http://schemas.microsoft.com/office/drawing/2014/main" id="{733C14F3-B72B-4BFD-A73E-A281D12E03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1995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7" name="AutoShape 12">
              <a:extLst>
                <a:ext uri="{FF2B5EF4-FFF2-40B4-BE49-F238E27FC236}">
                  <a16:creationId xmlns:a16="http://schemas.microsoft.com/office/drawing/2014/main" id="{3FA8BB74-6EE3-25E5-ACFB-019FBAB075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258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AutoShape 13">
              <a:extLst>
                <a:ext uri="{FF2B5EF4-FFF2-40B4-BE49-F238E27FC236}">
                  <a16:creationId xmlns:a16="http://schemas.microsoft.com/office/drawing/2014/main" id="{6E75F22A-E6FF-6B84-8D28-F9D94E2FF5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318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AutoShape 14">
              <a:extLst>
                <a:ext uri="{FF2B5EF4-FFF2-40B4-BE49-F238E27FC236}">
                  <a16:creationId xmlns:a16="http://schemas.microsoft.com/office/drawing/2014/main" id="{CDF15B6E-E568-6E5B-6B3B-B06A0E85CF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3" y="3775"/>
              <a:ext cx="558" cy="533"/>
            </a:xfrm>
            <a:prstGeom prst="parallelogram">
              <a:avLst>
                <a:gd name="adj" fmla="val 5543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" name="AutoShape 15">
              <a:extLst>
                <a:ext uri="{FF2B5EF4-FFF2-40B4-BE49-F238E27FC236}">
                  <a16:creationId xmlns:a16="http://schemas.microsoft.com/office/drawing/2014/main" id="{9F7C2E1C-5792-8813-9E41-E6EE96FD24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213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63636CC5-A9E2-48B1-94A4-818976E9F8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803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2" name="AutoShape 17">
              <a:extLst>
                <a:ext uri="{FF2B5EF4-FFF2-40B4-BE49-F238E27FC236}">
                  <a16:creationId xmlns:a16="http://schemas.microsoft.com/office/drawing/2014/main" id="{08418C0F-8B48-8C09-5FC3-5521BC6CB5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139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" name="Rectangle 18">
            <a:extLst>
              <a:ext uri="{FF2B5EF4-FFF2-40B4-BE49-F238E27FC236}">
                <a16:creationId xmlns:a16="http://schemas.microsoft.com/office/drawing/2014/main" id="{F1CD03AD-1271-B914-87CD-7BB5F4802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0"/>
            <a:ext cx="276225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>
            <a:extLst>
              <a:ext uri="{FF2B5EF4-FFF2-40B4-BE49-F238E27FC236}">
                <a16:creationId xmlns:a16="http://schemas.microsoft.com/office/drawing/2014/main" id="{997E8A74-25BE-CEAD-290A-DF2764827E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47688" y="2717800"/>
            <a:ext cx="8596312" cy="254000"/>
          </a:xfrm>
          <a:prstGeom prst="homePlate">
            <a:avLst>
              <a:gd name="adj" fmla="val 58913"/>
            </a:avLst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Oval 20">
            <a:extLst>
              <a:ext uri="{FF2B5EF4-FFF2-40B4-BE49-F238E27FC236}">
                <a16:creationId xmlns:a16="http://schemas.microsoft.com/office/drawing/2014/main" id="{20E974EB-ACF1-0D61-50EB-C0C01A54A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2697163"/>
            <a:ext cx="295275" cy="274637"/>
          </a:xfrm>
          <a:prstGeom prst="ellipse">
            <a:avLst/>
          </a:prstGeom>
          <a:gradFill rotWithShape="0">
            <a:gsLst>
              <a:gs pos="0">
                <a:srgbClr val="FE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EAE9CB37-11FF-DB6D-56C0-BD6F15D08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2700338"/>
            <a:ext cx="161925" cy="41576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7" name="Oval 22">
            <a:extLst>
              <a:ext uri="{FF2B5EF4-FFF2-40B4-BE49-F238E27FC236}">
                <a16:creationId xmlns:a16="http://schemas.microsoft.com/office/drawing/2014/main" id="{422A2554-6E58-9C4C-AB7C-CCCDFA4B4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2697163"/>
            <a:ext cx="304800" cy="274637"/>
          </a:xfrm>
          <a:prstGeom prst="ellipse">
            <a:avLst/>
          </a:prstGeom>
          <a:gradFill rotWithShape="0">
            <a:gsLst>
              <a:gs pos="0">
                <a:srgbClr val="FE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B5084724-417B-AE38-FE5C-328EBDDB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2760663"/>
            <a:ext cx="8751887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19" name="Group 24">
            <a:extLst>
              <a:ext uri="{FF2B5EF4-FFF2-40B4-BE49-F238E27FC236}">
                <a16:creationId xmlns:a16="http://schemas.microsoft.com/office/drawing/2014/main" id="{8FEF4B82-DA2E-DF54-C73C-A09AA9A5761F}"/>
              </a:ext>
            </a:extLst>
          </p:cNvPr>
          <p:cNvGrpSpPr>
            <a:grpSpLocks/>
          </p:cNvGrpSpPr>
          <p:nvPr/>
        </p:nvGrpSpPr>
        <p:grpSpPr bwMode="auto">
          <a:xfrm>
            <a:off x="150813" y="0"/>
            <a:ext cx="849312" cy="6858000"/>
            <a:chOff x="95" y="0"/>
            <a:chExt cx="535" cy="4320"/>
          </a:xfrm>
        </p:grpSpPr>
        <p:sp>
          <p:nvSpPr>
            <p:cNvPr id="20" name="AutoShape 25">
              <a:extLst>
                <a:ext uri="{FF2B5EF4-FFF2-40B4-BE49-F238E27FC236}">
                  <a16:creationId xmlns:a16="http://schemas.microsoft.com/office/drawing/2014/main" id="{078555D1-5133-92C4-0DD1-747C1EAC25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2" y="229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1" name="AutoShape 26">
              <a:extLst>
                <a:ext uri="{FF2B5EF4-FFF2-40B4-BE49-F238E27FC236}">
                  <a16:creationId xmlns:a16="http://schemas.microsoft.com/office/drawing/2014/main" id="{6B139E87-2A18-BA60-6105-421119FE90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2886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2" name="AutoShape 27">
              <a:extLst>
                <a:ext uri="{FF2B5EF4-FFF2-40B4-BE49-F238E27FC236}">
                  <a16:creationId xmlns:a16="http://schemas.microsoft.com/office/drawing/2014/main" id="{2C9D90EB-14D0-126C-7DF6-713AA8205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347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3" name="AutoShape 28">
              <a:extLst>
                <a:ext uri="{FF2B5EF4-FFF2-40B4-BE49-F238E27FC236}">
                  <a16:creationId xmlns:a16="http://schemas.microsoft.com/office/drawing/2014/main" id="{DB19DC43-3F5A-5BC6-672F-23C853626B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508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4" name="AutoShape 29">
              <a:extLst>
                <a:ext uri="{FF2B5EF4-FFF2-40B4-BE49-F238E27FC236}">
                  <a16:creationId xmlns:a16="http://schemas.microsoft.com/office/drawing/2014/main" id="{84372BB4-BDD5-145B-9BC9-7E2C84344C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110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5" name="AutoShape 30">
              <a:extLst>
                <a:ext uri="{FF2B5EF4-FFF2-40B4-BE49-F238E27FC236}">
                  <a16:creationId xmlns:a16="http://schemas.microsoft.com/office/drawing/2014/main" id="{48684221-A524-A30A-C761-141DA7A417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1697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1F65F91-E8E8-4A11-DD19-6D94E1F3F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" y="0"/>
              <a:ext cx="532" cy="465"/>
            </a:xfrm>
            <a:custGeom>
              <a:avLst/>
              <a:gdLst>
                <a:gd name="T0" fmla="*/ 1 w 532"/>
                <a:gd name="T1" fmla="*/ 0 h 465"/>
                <a:gd name="T2" fmla="*/ 0 w 532"/>
                <a:gd name="T3" fmla="*/ 166 h 465"/>
                <a:gd name="T4" fmla="*/ 532 w 532"/>
                <a:gd name="T5" fmla="*/ 465 h 465"/>
                <a:gd name="T6" fmla="*/ 532 w 532"/>
                <a:gd name="T7" fmla="*/ 201 h 465"/>
                <a:gd name="T8" fmla="*/ 172 w 532"/>
                <a:gd name="T9" fmla="*/ 0 h 465"/>
                <a:gd name="T10" fmla="*/ 1 w 532"/>
                <a:gd name="T11" fmla="*/ 0 h 4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2" h="465">
                  <a:moveTo>
                    <a:pt x="1" y="0"/>
                  </a:moveTo>
                  <a:lnTo>
                    <a:pt x="0" y="166"/>
                  </a:lnTo>
                  <a:lnTo>
                    <a:pt x="532" y="465"/>
                  </a:lnTo>
                  <a:lnTo>
                    <a:pt x="532" y="201"/>
                  </a:lnTo>
                  <a:lnTo>
                    <a:pt x="172" y="0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628752D-C01C-C972-103F-BECB7B756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" y="4060"/>
              <a:ext cx="457" cy="260"/>
            </a:xfrm>
            <a:custGeom>
              <a:avLst/>
              <a:gdLst>
                <a:gd name="T0" fmla="*/ 457 w 457"/>
                <a:gd name="T1" fmla="*/ 252 h 264"/>
                <a:gd name="T2" fmla="*/ 1 w 457"/>
                <a:gd name="T3" fmla="*/ 0 h 264"/>
                <a:gd name="T4" fmla="*/ 0 w 457"/>
                <a:gd name="T5" fmla="*/ 256 h 264"/>
                <a:gd name="T6" fmla="*/ 457 w 457"/>
                <a:gd name="T7" fmla="*/ 252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7" h="264">
                  <a:moveTo>
                    <a:pt x="457" y="260"/>
                  </a:moveTo>
                  <a:lnTo>
                    <a:pt x="1" y="0"/>
                  </a:lnTo>
                  <a:lnTo>
                    <a:pt x="0" y="264"/>
                  </a:lnTo>
                  <a:lnTo>
                    <a:pt x="457" y="26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295400" y="1524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buFont typeface="Monotype Sorts" panose="01010601010101010101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409CB39F-4D23-541C-4CFD-37B86CCE69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2954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44F00FC0-656A-ADAF-ECC3-209B8DD6EB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13C927C6-33D3-67A7-1536-8A574F9531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8DBA811-413A-4273-A4FF-6E7BC6C172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69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11C23E-0D64-BFC2-1879-1BBCEC7E8A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562E1A-5B31-ABF8-5251-A75D9349CA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1DC857-561B-B141-6A8E-423948828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CA939-12AD-44E9-A652-6824617DFB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02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05D480-20A3-DC2B-DCF0-46C5830C2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9331C3-96CB-0CF8-071C-DFC8B5C16E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721E80-DC48-674E-2F03-96AF24BDB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D598F-F79B-43A4-8D28-100BBFCF2C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85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20447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20447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27132-3100-AAB7-8D3A-4B563BCEF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80725-712C-FE66-10A4-F7BA2DE22B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06AD3-4728-4108-4356-80BA0D54C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32FF41-D9EB-43EB-94F7-9DB5EBCCB7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58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39C963-6957-F1B3-97BA-4B38C50F52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13A64F-56D2-BC92-98C8-F37FBC088C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F785ED-C282-A15F-C12F-8CD3B2C021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5EF1D-585C-4DC4-82DC-1146B41A8C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87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DAB13C-600A-7B85-BD27-F193D3EC5A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31A0917-577E-3DAC-F6EC-7D0BADD4D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028342-4641-0B26-CCEE-A8A850C01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F16A7-AC7F-4FD8-84B7-FE75219D69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25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F5A2C77-DDBF-68DD-727E-30CB9E428A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E2FD4FF-65E6-E852-AEEA-E59965346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B63977-5E87-CB05-5176-1F363BBECA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A995A-8729-4EB3-9ADC-FB03C08A0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75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1FC13-8168-C503-E491-22EE68B114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B3520-9B97-E82D-42BC-918A143354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80E847-7CEF-56DB-2931-8B5B181B60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EBD32-2AF8-4232-945E-03A06BF724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86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6168E5-C3AA-5145-7F6F-DEFBC0F22C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A58C3-686F-D986-BB54-A316A04BF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DA96F-150F-A85F-B612-AB254971DA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62351-DCF5-43AA-A4C1-013C0D609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872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C465A3-B86B-9230-97DC-96F0BE5BF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F8DAC5-B06A-1D8B-BB27-CCB9D7293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C154FF-72E0-4B3B-63ED-CA61F9322C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50BAAE-7770-4650-BA2A-A482235AF7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74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00" y="419100"/>
            <a:ext cx="1943100" cy="5740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419100"/>
            <a:ext cx="5676900" cy="5740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E6E9B0-5BA4-0B50-69AB-ABCC2E9AA7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D69098-C17A-BBA0-4FB1-E0869218FB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8B7F39-B73C-DA0C-8250-8E2E4B36AE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6E697-0BFD-4641-98D7-FFE1D663A1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59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FDEBE6-FC71-6E6D-8DAD-89C80A220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D7EA620-707B-7C77-1D4E-2AFFD2C45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20447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47EC411-020F-8C62-BDBD-5D8657E746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2594083-F6F9-293B-4555-9CA3E88056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F0D2CD8-5972-67A9-3BA8-1A261C5223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AD41423D-2C8B-4B70-B208-E5B77990E1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98E29DC6-2E16-5AC8-2EF1-D1C4F6B5EF6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14325"/>
            <a:ext cx="847725" cy="6543675"/>
            <a:chOff x="96" y="198"/>
            <a:chExt cx="534" cy="4122"/>
          </a:xfrm>
        </p:grpSpPr>
        <p:sp>
          <p:nvSpPr>
            <p:cNvPr id="1047" name="AutoShape 8">
              <a:extLst>
                <a:ext uri="{FF2B5EF4-FFF2-40B4-BE49-F238E27FC236}">
                  <a16:creationId xmlns:a16="http://schemas.microsoft.com/office/drawing/2014/main" id="{74775B90-854C-0B33-FA97-5F298BB657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1995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8" name="AutoShape 9">
              <a:extLst>
                <a:ext uri="{FF2B5EF4-FFF2-40B4-BE49-F238E27FC236}">
                  <a16:creationId xmlns:a16="http://schemas.microsoft.com/office/drawing/2014/main" id="{6A0D091C-3A13-A92C-517A-43159186B5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258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9" name="AutoShape 10">
              <a:extLst>
                <a:ext uri="{FF2B5EF4-FFF2-40B4-BE49-F238E27FC236}">
                  <a16:creationId xmlns:a16="http://schemas.microsoft.com/office/drawing/2014/main" id="{D086F93A-AE51-DA6D-81D2-082A295C99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318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50" name="AutoShape 11">
              <a:extLst>
                <a:ext uri="{FF2B5EF4-FFF2-40B4-BE49-F238E27FC236}">
                  <a16:creationId xmlns:a16="http://schemas.microsoft.com/office/drawing/2014/main" id="{26C8836C-0611-D76E-1624-4A387681D9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3" y="3775"/>
              <a:ext cx="558" cy="533"/>
            </a:xfrm>
            <a:prstGeom prst="parallelogram">
              <a:avLst>
                <a:gd name="adj" fmla="val 5543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51" name="AutoShape 12">
              <a:extLst>
                <a:ext uri="{FF2B5EF4-FFF2-40B4-BE49-F238E27FC236}">
                  <a16:creationId xmlns:a16="http://schemas.microsoft.com/office/drawing/2014/main" id="{1F1D8A6D-A6EC-9F58-D952-7EDA0E49D4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2" y="213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52" name="AutoShape 13">
              <a:extLst>
                <a:ext uri="{FF2B5EF4-FFF2-40B4-BE49-F238E27FC236}">
                  <a16:creationId xmlns:a16="http://schemas.microsoft.com/office/drawing/2014/main" id="{EB6FABB2-6219-3ED9-AA90-92335A82A5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803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53" name="AutoShape 14">
              <a:extLst>
                <a:ext uri="{FF2B5EF4-FFF2-40B4-BE49-F238E27FC236}">
                  <a16:creationId xmlns:a16="http://schemas.microsoft.com/office/drawing/2014/main" id="{5E0BE6A9-82D3-4657-8F14-E961A5010D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81" y="139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2063" name="Rectangle 15">
            <a:extLst>
              <a:ext uri="{FF2B5EF4-FFF2-40B4-BE49-F238E27FC236}">
                <a16:creationId xmlns:a16="http://schemas.microsoft.com/office/drawing/2014/main" id="{FCF895C4-0372-9B48-4BFB-79D85D229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0"/>
            <a:ext cx="276225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4" name="AutoShape 16">
            <a:extLst>
              <a:ext uri="{FF2B5EF4-FFF2-40B4-BE49-F238E27FC236}">
                <a16:creationId xmlns:a16="http://schemas.microsoft.com/office/drawing/2014/main" id="{A71EC1D0-0368-6D9C-2DE9-3719DDDE5C0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47688" y="1703388"/>
            <a:ext cx="8596312" cy="254000"/>
          </a:xfrm>
          <a:prstGeom prst="homePlate">
            <a:avLst>
              <a:gd name="adj" fmla="val 58913"/>
            </a:avLst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5" name="Oval 17">
            <a:extLst>
              <a:ext uri="{FF2B5EF4-FFF2-40B4-BE49-F238E27FC236}">
                <a16:creationId xmlns:a16="http://schemas.microsoft.com/office/drawing/2014/main" id="{B072323D-CFF3-D6F6-657A-D8179BED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1706563"/>
            <a:ext cx="295275" cy="274637"/>
          </a:xfrm>
          <a:prstGeom prst="ellipse">
            <a:avLst/>
          </a:prstGeom>
          <a:gradFill rotWithShape="0">
            <a:gsLst>
              <a:gs pos="0">
                <a:srgbClr val="FE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5" name="Rectangle 18">
            <a:extLst>
              <a:ext uri="{FF2B5EF4-FFF2-40B4-BE49-F238E27FC236}">
                <a16:creationId xmlns:a16="http://schemas.microsoft.com/office/drawing/2014/main" id="{E41DEB0E-1A6C-7218-CD36-55455BED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1912938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067" name="Oval 19">
            <a:extLst>
              <a:ext uri="{FF2B5EF4-FFF2-40B4-BE49-F238E27FC236}">
                <a16:creationId xmlns:a16="http://schemas.microsoft.com/office/drawing/2014/main" id="{42B7F01F-8D3D-AB30-7212-02A99416A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88" y="1676400"/>
            <a:ext cx="304800" cy="274638"/>
          </a:xfrm>
          <a:prstGeom prst="ellipse">
            <a:avLst/>
          </a:prstGeom>
          <a:gradFill rotWithShape="0">
            <a:gsLst>
              <a:gs pos="0">
                <a:srgbClr val="FEFFFF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7" name="Rectangle 20">
            <a:extLst>
              <a:ext uri="{FF2B5EF4-FFF2-40B4-BE49-F238E27FC236}">
                <a16:creationId xmlns:a16="http://schemas.microsoft.com/office/drawing/2014/main" id="{A8A533CF-9DCE-F0C5-C463-4B1A029AF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39900"/>
            <a:ext cx="8751888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1038" name="Group 21">
            <a:extLst>
              <a:ext uri="{FF2B5EF4-FFF2-40B4-BE49-F238E27FC236}">
                <a16:creationId xmlns:a16="http://schemas.microsoft.com/office/drawing/2014/main" id="{BFB97AFF-E683-9969-AEE8-848B1E0B6933}"/>
              </a:ext>
            </a:extLst>
          </p:cNvPr>
          <p:cNvGrpSpPr>
            <a:grpSpLocks/>
          </p:cNvGrpSpPr>
          <p:nvPr/>
        </p:nvGrpSpPr>
        <p:grpSpPr bwMode="auto">
          <a:xfrm>
            <a:off x="150813" y="0"/>
            <a:ext cx="849312" cy="6858000"/>
            <a:chOff x="95" y="0"/>
            <a:chExt cx="535" cy="4320"/>
          </a:xfrm>
        </p:grpSpPr>
        <p:sp>
          <p:nvSpPr>
            <p:cNvPr id="1039" name="AutoShape 22">
              <a:extLst>
                <a:ext uri="{FF2B5EF4-FFF2-40B4-BE49-F238E27FC236}">
                  <a16:creationId xmlns:a16="http://schemas.microsoft.com/office/drawing/2014/main" id="{7DDC61D5-F6B7-9498-9DFA-2273EF713A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2" y="229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0" name="AutoShape 23">
              <a:extLst>
                <a:ext uri="{FF2B5EF4-FFF2-40B4-BE49-F238E27FC236}">
                  <a16:creationId xmlns:a16="http://schemas.microsoft.com/office/drawing/2014/main" id="{F1764DD7-CDB0-97DD-4535-B38F4E4923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2886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1" name="AutoShape 24">
              <a:extLst>
                <a:ext uri="{FF2B5EF4-FFF2-40B4-BE49-F238E27FC236}">
                  <a16:creationId xmlns:a16="http://schemas.microsoft.com/office/drawing/2014/main" id="{14910F1B-3859-0F92-A72E-ACCE25589B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3479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2" name="AutoShape 25">
              <a:extLst>
                <a:ext uri="{FF2B5EF4-FFF2-40B4-BE49-F238E27FC236}">
                  <a16:creationId xmlns:a16="http://schemas.microsoft.com/office/drawing/2014/main" id="{77C5C05E-1F11-8D86-7282-5951F0B5B2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508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3" name="AutoShape 26">
              <a:extLst>
                <a:ext uri="{FF2B5EF4-FFF2-40B4-BE49-F238E27FC236}">
                  <a16:creationId xmlns:a16="http://schemas.microsoft.com/office/drawing/2014/main" id="{3C285980-D5C2-0B6C-7F7E-9A4C705BD4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1101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4" name="AutoShape 27">
              <a:extLst>
                <a:ext uri="{FF2B5EF4-FFF2-40B4-BE49-F238E27FC236}">
                  <a16:creationId xmlns:a16="http://schemas.microsoft.com/office/drawing/2014/main" id="{62958055-05EC-FAB3-9E2D-5B82A98B73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81" y="1697"/>
              <a:ext cx="564" cy="533"/>
            </a:xfrm>
            <a:prstGeom prst="parallelogram">
              <a:avLst>
                <a:gd name="adj" fmla="val 56034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45" name="Freeform 28">
              <a:extLst>
                <a:ext uri="{FF2B5EF4-FFF2-40B4-BE49-F238E27FC236}">
                  <a16:creationId xmlns:a16="http://schemas.microsoft.com/office/drawing/2014/main" id="{89D8155D-7C19-A4C6-856A-2D3969E4D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" y="0"/>
              <a:ext cx="532" cy="465"/>
            </a:xfrm>
            <a:custGeom>
              <a:avLst/>
              <a:gdLst>
                <a:gd name="T0" fmla="*/ 1 w 532"/>
                <a:gd name="T1" fmla="*/ 0 h 465"/>
                <a:gd name="T2" fmla="*/ 0 w 532"/>
                <a:gd name="T3" fmla="*/ 166 h 465"/>
                <a:gd name="T4" fmla="*/ 532 w 532"/>
                <a:gd name="T5" fmla="*/ 465 h 465"/>
                <a:gd name="T6" fmla="*/ 532 w 532"/>
                <a:gd name="T7" fmla="*/ 201 h 465"/>
                <a:gd name="T8" fmla="*/ 172 w 532"/>
                <a:gd name="T9" fmla="*/ 0 h 465"/>
                <a:gd name="T10" fmla="*/ 1 w 532"/>
                <a:gd name="T11" fmla="*/ 0 h 4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2" h="465">
                  <a:moveTo>
                    <a:pt x="1" y="0"/>
                  </a:moveTo>
                  <a:lnTo>
                    <a:pt x="0" y="166"/>
                  </a:lnTo>
                  <a:lnTo>
                    <a:pt x="532" y="465"/>
                  </a:lnTo>
                  <a:lnTo>
                    <a:pt x="532" y="201"/>
                  </a:lnTo>
                  <a:lnTo>
                    <a:pt x="172" y="0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Freeform 29">
              <a:extLst>
                <a:ext uri="{FF2B5EF4-FFF2-40B4-BE49-F238E27FC236}">
                  <a16:creationId xmlns:a16="http://schemas.microsoft.com/office/drawing/2014/main" id="{B5FC82F5-782E-BF2F-7FA0-B59A8351C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" y="4060"/>
              <a:ext cx="457" cy="260"/>
            </a:xfrm>
            <a:custGeom>
              <a:avLst/>
              <a:gdLst>
                <a:gd name="T0" fmla="*/ 457 w 457"/>
                <a:gd name="T1" fmla="*/ 252 h 264"/>
                <a:gd name="T2" fmla="*/ 1 w 457"/>
                <a:gd name="T3" fmla="*/ 0 h 264"/>
                <a:gd name="T4" fmla="*/ 0 w 457"/>
                <a:gd name="T5" fmla="*/ 256 h 264"/>
                <a:gd name="T6" fmla="*/ 457 w 457"/>
                <a:gd name="T7" fmla="*/ 252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7" h="264">
                  <a:moveTo>
                    <a:pt x="457" y="260"/>
                  </a:moveTo>
                  <a:lnTo>
                    <a:pt x="1" y="0"/>
                  </a:lnTo>
                  <a:lnTo>
                    <a:pt x="0" y="264"/>
                  </a:lnTo>
                  <a:lnTo>
                    <a:pt x="457" y="26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4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nter Alia Extra Bold" panose="02000903000000020004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nter Alia Extra Bold" panose="02000903000000020004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nter Alia Extra Bold" panose="02000903000000020004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nter Alia Extra Bold" panose="02000903000000020004" pitchFamily="50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mpact" panose="020B080603090205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mpact" panose="020B080603090205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mpact" panose="020B080603090205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Impact" panose="020B080603090205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b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6.jpeg" /><Relationship Id="rId4" Type="http://schemas.openxmlformats.org/officeDocument/2006/relationships/image" Target="../media/image5.jpe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6.jpeg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image" Target="../media/image22.tmp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4.jpeg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 /><Relationship Id="rId2" Type="http://schemas.openxmlformats.org/officeDocument/2006/relationships/image" Target="../media/image25.tmp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 /><Relationship Id="rId2" Type="http://schemas.openxmlformats.org/officeDocument/2006/relationships/image" Target="../media/image28.tmp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 /><Relationship Id="rId2" Type="http://schemas.openxmlformats.org/officeDocument/2006/relationships/image" Target="../media/image30.tmp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 /><Relationship Id="rId2" Type="http://schemas.openxmlformats.org/officeDocument/2006/relationships/image" Target="../media/image38.tmp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 /><Relationship Id="rId2" Type="http://schemas.openxmlformats.org/officeDocument/2006/relationships/image" Target="../media/image42.tmp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mp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 /><Relationship Id="rId2" Type="http://schemas.openxmlformats.org/officeDocument/2006/relationships/image" Target="../media/image46.tmp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 /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 /><Relationship Id="rId2" Type="http://schemas.openxmlformats.org/officeDocument/2006/relationships/image" Target="../media/image49.tmp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 /><Relationship Id="rId2" Type="http://schemas.openxmlformats.org/officeDocument/2006/relationships/image" Target="../media/image53.tmp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5.tmp" 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 /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 /><Relationship Id="rId2" Type="http://schemas.openxmlformats.org/officeDocument/2006/relationships/image" Target="../media/image57.jpeg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 /><Relationship Id="rId1" Type="http://schemas.openxmlformats.org/officeDocument/2006/relationships/slideLayout" Target="../slideLayouts/slideLayout2.xml" 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7FF52E3-2A06-21E5-7E68-A2E7CFA099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The English Alphabet</a:t>
            </a:r>
            <a:br>
              <a:rPr lang="en-Shaw-GB" altLang="en-US" dirty="0"/>
            </a:br>
            <a:r>
              <a:rPr lang="en-US" altLang="en-US" dirty="0"/>
              <a:t>𐑞 𐑦𐑙𐑜𐑤𐑦𐑖 𐑨𐑤𐑓𐑩𐑚𐑧𐑑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1C4741-DF21-7FF3-7603-57BD96B166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599" y="3886200"/>
            <a:ext cx="6773497" cy="17526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What’s wrong with it &amp; how fix it. 𐑢𐑪𐑑𐑕 𐑮𐑪𐑙 𐑢𐑦𐑞 𐑦𐑑 𐑯 𐑣𐑬 𐑑 𐑓𐑦𐑒𐑕 𐑦𐑑. </a:t>
            </a:r>
          </a:p>
        </p:txBody>
      </p:sp>
    </p:spTree>
    <p:extLst>
      <p:ext uri="{BB962C8B-B14F-4D97-AF65-F5344CB8AC3E}">
        <p14:creationId xmlns:p14="http://schemas.microsoft.com/office/powerpoint/2010/main" val="3822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695C-FB4B-B396-3DF6-EBE53578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Help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2C0B2-8412-04F9-4165-71B3486D0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Autocorrect (1993)</a:t>
            </a:r>
          </a:p>
          <a:p>
            <a:r>
              <a:rPr lang="en-US" dirty="0"/>
              <a:t>Spell check (1980)</a:t>
            </a:r>
          </a:p>
          <a:p>
            <a:r>
              <a:rPr lang="en-US" dirty="0"/>
              <a:t>Misspeller’s Dictionary (1974)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14927173-BCCA-E345-CC2F-991AABED7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2044700"/>
            <a:ext cx="2790280" cy="2400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98FF8-342E-9BE4-6AF1-2FD4991FD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855" y="3149600"/>
            <a:ext cx="2232215" cy="30083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113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0FDB2-E5F0-080B-D103-901CCB24A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76" y="2044701"/>
            <a:ext cx="3008923" cy="20931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D695C-FB4B-B396-3DF6-EBE53578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Help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2C0B2-8412-04F9-4165-71B3486D0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Autocorrect, spell check, and </a:t>
            </a:r>
            <a:r>
              <a:rPr lang="en-US" dirty="0" err="1"/>
              <a:t>misspeller’s</a:t>
            </a:r>
            <a:r>
              <a:rPr lang="en-US" dirty="0"/>
              <a:t> dictionaries help correct spelling</a:t>
            </a:r>
          </a:p>
          <a:p>
            <a:r>
              <a:rPr lang="en-US" dirty="0"/>
              <a:t>Dictionaries define meaning of words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6E479-68AE-EAB7-18A7-57A769E8A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24" y="3222203"/>
            <a:ext cx="1971675" cy="1647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E34CF-AABF-2D91-2DD8-D35ED9864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4820965"/>
            <a:ext cx="3825908" cy="536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6EEA46-526D-B5A0-A97E-F9EF4D0692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5561206"/>
            <a:ext cx="3808871" cy="655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20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8757-18AE-6A96-914B-A279EAF7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spelling difficult?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E4660A-6F7F-7070-DB31-C6FCD46FD0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2044700"/>
            <a:ext cx="2027932" cy="4114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C519C-9613-7448-AFB1-5D80764B2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4809" y="2044700"/>
            <a:ext cx="5596792" cy="4114800"/>
          </a:xfrm>
        </p:spPr>
        <p:txBody>
          <a:bodyPr/>
          <a:lstStyle/>
          <a:p>
            <a:r>
              <a:rPr lang="en-US" dirty="0"/>
              <a:t>21 consonant letters for 24 consonant sounds</a:t>
            </a:r>
          </a:p>
          <a:p>
            <a:r>
              <a:rPr lang="en-US" dirty="0"/>
              <a:t>5 vowel letters for          16 vowel sounds</a:t>
            </a:r>
          </a:p>
          <a:p>
            <a:r>
              <a:rPr lang="en-US" dirty="0"/>
              <a:t>1,000 years of spelling history makes 138+ letter combinations for 53 sounds</a:t>
            </a:r>
          </a:p>
        </p:txBody>
      </p:sp>
    </p:spTree>
    <p:extLst>
      <p:ext uri="{BB962C8B-B14F-4D97-AF65-F5344CB8AC3E}">
        <p14:creationId xmlns:p14="http://schemas.microsoft.com/office/powerpoint/2010/main" val="217807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FD44-9FCD-E6E6-48F0-3218C51E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spelling difficult?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BBED-ECEE-B8A2-8090-40875484D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044700"/>
            <a:ext cx="4996474" cy="4114800"/>
          </a:xfrm>
        </p:spPr>
        <p:txBody>
          <a:bodyPr/>
          <a:lstStyle/>
          <a:p>
            <a:r>
              <a:rPr lang="en-US" dirty="0"/>
              <a:t>Part of the reason for complex spelling is that the alphabet has changed.</a:t>
            </a:r>
          </a:p>
          <a:p>
            <a:r>
              <a:rPr lang="en-US" dirty="0"/>
              <a:t>For example, in the 1800s, the alphabet included “&amp;.”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9F660-FE38-8695-4ECC-466B9A1D86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9090" y="2044700"/>
            <a:ext cx="2582510" cy="4114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874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ABE5-6038-8698-5DE9-3EF0CCB5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Alphabet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2287-DCED-A80D-F905-19F81502B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b="1" dirty="0"/>
              <a:t>1800s</a:t>
            </a:r>
          </a:p>
          <a:p>
            <a:pPr marL="0" indent="0" algn="ctr">
              <a:buNone/>
            </a:pPr>
            <a:r>
              <a:rPr lang="en-US" sz="2000" dirty="0"/>
              <a:t>A B C D E F G H I J K L M N O P Q R S T U V W X Y Z &amp;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1700s</a:t>
            </a:r>
            <a:r>
              <a:rPr lang="en-US" sz="2000" dirty="0"/>
              <a:t> – the Long-S – “Congress” is spelled “</a:t>
            </a:r>
            <a:r>
              <a:rPr lang="en-US" sz="2000" b="1" dirty="0" err="1"/>
              <a:t>Congreſs</a:t>
            </a:r>
            <a:r>
              <a:rPr lang="en-US" sz="2000" dirty="0"/>
              <a:t>.”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1600s</a:t>
            </a:r>
          </a:p>
          <a:p>
            <a:pPr marL="0" indent="0" algn="ctr">
              <a:buNone/>
            </a:pPr>
            <a:r>
              <a:rPr lang="en-US" sz="2000" dirty="0"/>
              <a:t>A B C D E F G H I K L M N O P Q R S T V W X Y Z</a:t>
            </a:r>
          </a:p>
          <a:p>
            <a:pPr marL="0" indent="0" algn="ctr">
              <a:buNone/>
            </a:pPr>
            <a:r>
              <a:rPr lang="en-US" sz="2000" dirty="0"/>
              <a:t>Without J or U, “Jesus” is spelled “</a:t>
            </a:r>
            <a:r>
              <a:rPr lang="en-US" sz="2000" b="1" dirty="0" err="1"/>
              <a:t>Iesvs</a:t>
            </a:r>
            <a:r>
              <a:rPr lang="en-US" sz="2000" dirty="0"/>
              <a:t>.”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Previous alphabets had no </a:t>
            </a:r>
            <a:r>
              <a:rPr lang="en-US" sz="2000" b="1" dirty="0"/>
              <a:t>J</a:t>
            </a:r>
            <a:r>
              <a:rPr lang="en-US" sz="2000" dirty="0"/>
              <a:t>, </a:t>
            </a:r>
            <a:r>
              <a:rPr lang="en-US" sz="2000" b="1" dirty="0"/>
              <a:t>U</a:t>
            </a:r>
            <a:r>
              <a:rPr lang="en-US" sz="2000" dirty="0"/>
              <a:t>, or </a:t>
            </a:r>
            <a:r>
              <a:rPr lang="en-US" sz="2000" b="1" dirty="0"/>
              <a:t>W</a:t>
            </a:r>
            <a:r>
              <a:rPr lang="en-US" sz="2000" dirty="0"/>
              <a:t> </a:t>
            </a:r>
          </a:p>
          <a:p>
            <a:pPr marL="0" indent="0" algn="ctr">
              <a:buNone/>
            </a:pPr>
            <a:r>
              <a:rPr lang="en-US" sz="2000" dirty="0"/>
              <a:t>but included </a:t>
            </a:r>
            <a:r>
              <a:rPr lang="en-US" sz="2000" b="1" dirty="0"/>
              <a:t>ʒ</a:t>
            </a:r>
            <a:r>
              <a:rPr lang="en-US" sz="2000" dirty="0"/>
              <a:t>, </a:t>
            </a:r>
            <a:r>
              <a:rPr lang="en-US" sz="2000" b="1" dirty="0"/>
              <a:t>æ</a:t>
            </a:r>
            <a:r>
              <a:rPr lang="en-US" sz="2000" dirty="0"/>
              <a:t>, </a:t>
            </a:r>
            <a:r>
              <a:rPr lang="en-US" sz="2000" b="1" dirty="0"/>
              <a:t>þ</a:t>
            </a:r>
            <a:r>
              <a:rPr lang="en-US" sz="2000" dirty="0"/>
              <a:t>, </a:t>
            </a:r>
            <a:r>
              <a:rPr lang="en-US" sz="2000" b="1" dirty="0"/>
              <a:t>ð</a:t>
            </a:r>
            <a:r>
              <a:rPr lang="en-US" sz="2000" dirty="0"/>
              <a:t>, </a:t>
            </a:r>
            <a:r>
              <a:rPr lang="en-US" sz="2000" b="1" dirty="0"/>
              <a:t>ƿ</a:t>
            </a:r>
            <a:r>
              <a:rPr lang="en-US" sz="2000" dirty="0"/>
              <a:t>, </a:t>
            </a:r>
            <a:r>
              <a:rPr lang="en-US" sz="2000" b="1" dirty="0"/>
              <a:t>œ</a:t>
            </a:r>
            <a:r>
              <a:rPr lang="en-US" sz="2000" dirty="0"/>
              <a:t>, and </a:t>
            </a:r>
            <a:r>
              <a:rPr lang="en-US" sz="2000" b="1" dirty="0"/>
              <a:t>⁊</a:t>
            </a:r>
            <a:r>
              <a:rPr lang="en-US" sz="1200" b="1" u="none" strike="noStrike" dirty="0">
                <a:effectLst/>
                <a:latin typeface="Roboto" panose="02000000000000000000" pitchFamily="2" charset="0"/>
              </a:rPr>
              <a:t> </a:t>
            </a:r>
            <a:r>
              <a:rPr lang="en-US" sz="2000" dirty="0"/>
              <a:t>at various times.</a:t>
            </a:r>
          </a:p>
        </p:txBody>
      </p:sp>
    </p:spTree>
    <p:extLst>
      <p:ext uri="{BB962C8B-B14F-4D97-AF65-F5344CB8AC3E}">
        <p14:creationId xmlns:p14="http://schemas.microsoft.com/office/powerpoint/2010/main" val="419857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07A0-B76C-2017-9202-D7160DF3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Pronunciation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10494-3BBB-689D-C25A-B501EEB0B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– The night was dark. </a:t>
            </a:r>
          </a:p>
          <a:p>
            <a:r>
              <a:rPr lang="en-US" dirty="0"/>
              <a:t>1650 – The night was </a:t>
            </a:r>
            <a:r>
              <a:rPr lang="en-US" dirty="0" err="1"/>
              <a:t>darke</a:t>
            </a:r>
            <a:r>
              <a:rPr lang="en-US" dirty="0"/>
              <a:t>.</a:t>
            </a:r>
          </a:p>
          <a:p>
            <a:r>
              <a:rPr lang="en-US" dirty="0"/>
              <a:t>1380 – </a:t>
            </a:r>
            <a:r>
              <a:rPr lang="en-US" dirty="0" err="1"/>
              <a:t>þe</a:t>
            </a:r>
            <a:r>
              <a:rPr lang="en-US" dirty="0"/>
              <a:t> </a:t>
            </a:r>
            <a:r>
              <a:rPr lang="en-US" dirty="0" err="1"/>
              <a:t>niʒt</a:t>
            </a:r>
            <a:r>
              <a:rPr lang="en-US" dirty="0"/>
              <a:t> </a:t>
            </a:r>
            <a:r>
              <a:rPr lang="en-US" dirty="0" err="1"/>
              <a:t>vvas</a:t>
            </a:r>
            <a:r>
              <a:rPr lang="en-US" dirty="0"/>
              <a:t> </a:t>
            </a:r>
            <a:r>
              <a:rPr lang="en-US" dirty="0" err="1"/>
              <a:t>derke</a:t>
            </a:r>
            <a:r>
              <a:rPr lang="en-US" dirty="0"/>
              <a:t>· </a:t>
            </a:r>
          </a:p>
          <a:p>
            <a:r>
              <a:rPr lang="en-US" dirty="0"/>
              <a:t>1000 – </a:t>
            </a:r>
            <a:r>
              <a:rPr lang="en-US" dirty="0" err="1"/>
              <a:t>seo</a:t>
            </a:r>
            <a:r>
              <a:rPr lang="en-US" dirty="0"/>
              <a:t> </a:t>
            </a:r>
            <a:r>
              <a:rPr lang="en-US" dirty="0" err="1"/>
              <a:t>niht</a:t>
            </a:r>
            <a:r>
              <a:rPr lang="en-US" dirty="0"/>
              <a:t> </a:t>
            </a:r>
            <a:r>
              <a:rPr lang="en-US" dirty="0" err="1"/>
              <a:t>ƿæs</a:t>
            </a:r>
            <a:r>
              <a:rPr lang="en-US" dirty="0"/>
              <a:t> </a:t>
            </a:r>
            <a:r>
              <a:rPr lang="en-US" dirty="0" err="1"/>
              <a:t>þeostru</a:t>
            </a:r>
            <a:r>
              <a:rPr lang="en-US" dirty="0"/>
              <a:t>·</a:t>
            </a:r>
          </a:p>
          <a:p>
            <a:r>
              <a:rPr lang="en-US" dirty="0"/>
              <a:t>650 – </a:t>
            </a:r>
            <a:r>
              <a:rPr lang="en-US" dirty="0" err="1"/>
              <a:t>ᛋᛖᚩ᛫ᚾᛁᚻᛏ᛫ᚹᛇᛋ᛫ᚦᛖᚩᛋᛏᚱᚢ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 err="1"/>
              <a:t>nict</a:t>
            </a:r>
            <a:r>
              <a:rPr lang="en-US" dirty="0"/>
              <a:t> → </a:t>
            </a:r>
            <a:r>
              <a:rPr lang="en-US" dirty="0" err="1"/>
              <a:t>nykt</a:t>
            </a:r>
            <a:r>
              <a:rPr lang="en-US" dirty="0"/>
              <a:t> → </a:t>
            </a:r>
            <a:r>
              <a:rPr lang="en-US" dirty="0" err="1"/>
              <a:t>nite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4428-5A9A-ED87-D83B-0909CCD7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Pronunciation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9735-9BE7-AD99-A587-ED0F3C44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ᚾᛁᚻᛏ</a:t>
            </a:r>
            <a:r>
              <a:rPr lang="en-US" dirty="0"/>
              <a:t> → </a:t>
            </a:r>
            <a:r>
              <a:rPr lang="en-US" dirty="0" err="1"/>
              <a:t>niht</a:t>
            </a:r>
            <a:r>
              <a:rPr lang="en-US" dirty="0"/>
              <a:t> → </a:t>
            </a:r>
            <a:r>
              <a:rPr lang="en-US" dirty="0" err="1"/>
              <a:t>niʒt</a:t>
            </a:r>
            <a:r>
              <a:rPr lang="en-US" dirty="0"/>
              <a:t> → night</a:t>
            </a:r>
          </a:p>
          <a:p>
            <a:r>
              <a:rPr lang="en-US" dirty="0"/>
              <a:t>Futhorc runes were replaced by the Latin alphabet.</a:t>
            </a:r>
          </a:p>
          <a:p>
            <a:r>
              <a:rPr lang="en-US" dirty="0"/>
              <a:t>NIHT represents the pronunciation</a:t>
            </a:r>
          </a:p>
          <a:p>
            <a:r>
              <a:rPr lang="en-US" dirty="0"/>
              <a:t>NIƷT is sometimes spelled ‘</a:t>
            </a:r>
            <a:r>
              <a:rPr lang="en-US" dirty="0" err="1"/>
              <a:t>nyghte</a:t>
            </a:r>
            <a:r>
              <a:rPr lang="en-US" dirty="0"/>
              <a:t>’</a:t>
            </a:r>
          </a:p>
          <a:p>
            <a:r>
              <a:rPr lang="en-US" dirty="0"/>
              <a:t>NIGHT is for the old pronunciation </a:t>
            </a:r>
          </a:p>
        </p:txBody>
      </p:sp>
    </p:spTree>
    <p:extLst>
      <p:ext uri="{BB962C8B-B14F-4D97-AF65-F5344CB8AC3E}">
        <p14:creationId xmlns:p14="http://schemas.microsoft.com/office/powerpoint/2010/main" val="311304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CED0-7696-1DEA-F44F-F516E357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= Pronunciation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093AF-AD0E-C43F-B9DA-94A94329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Spelled</a:t>
            </a:r>
            <a:r>
              <a:rPr lang="en-US" dirty="0"/>
              <a:t>: The night was dark. </a:t>
            </a:r>
          </a:p>
          <a:p>
            <a:r>
              <a:rPr lang="en-US" u="sng" dirty="0"/>
              <a:t>Pronounced</a:t>
            </a:r>
            <a:r>
              <a:rPr lang="en-US" dirty="0"/>
              <a:t>: \</a:t>
            </a:r>
            <a:r>
              <a:rPr lang="en-US" dirty="0" err="1"/>
              <a:t>t͟hə</a:t>
            </a:r>
            <a:r>
              <a:rPr lang="en-US" dirty="0"/>
              <a:t> ˈ</a:t>
            </a:r>
            <a:r>
              <a:rPr lang="en-US" dirty="0" err="1"/>
              <a:t>nīt</a:t>
            </a:r>
            <a:r>
              <a:rPr lang="en-US" dirty="0"/>
              <a:t> ˈ</a:t>
            </a:r>
            <a:r>
              <a:rPr lang="en-US" dirty="0" err="1"/>
              <a:t>wəz</a:t>
            </a:r>
            <a:r>
              <a:rPr lang="en-US" dirty="0"/>
              <a:t> ˈ</a:t>
            </a:r>
            <a:r>
              <a:rPr lang="en-US" dirty="0" err="1"/>
              <a:t>därk</a:t>
            </a:r>
            <a:r>
              <a:rPr lang="en-US" dirty="0"/>
              <a:t>\</a:t>
            </a:r>
          </a:p>
          <a:p>
            <a:endParaRPr lang="en-US" dirty="0"/>
          </a:p>
          <a:p>
            <a:r>
              <a:rPr lang="en-US" dirty="0"/>
              <a:t>One way to make spelling reflect pronunciation is to simplify spelling rules. </a:t>
            </a:r>
          </a:p>
          <a:p>
            <a:r>
              <a:rPr lang="en-US" dirty="0"/>
              <a:t>This is called </a:t>
            </a:r>
            <a:r>
              <a:rPr lang="en-US" b="1" u="sng" dirty="0"/>
              <a:t>spelling reform</a:t>
            </a:r>
            <a:r>
              <a:rPr lang="en-US" dirty="0"/>
              <a:t>. </a:t>
            </a:r>
          </a:p>
          <a:p>
            <a:r>
              <a:rPr lang="en-US" dirty="0"/>
              <a:t>Ex. </a:t>
            </a:r>
            <a:r>
              <a:rPr lang="en-US" b="1" u="sng" dirty="0" err="1"/>
              <a:t>Soundspel</a:t>
            </a:r>
            <a:r>
              <a:rPr lang="en-US" dirty="0"/>
              <a:t>: </a:t>
            </a:r>
            <a:r>
              <a:rPr lang="en-US" dirty="0" err="1"/>
              <a:t>Th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wuz</a:t>
            </a:r>
            <a:r>
              <a:rPr lang="en-US" dirty="0"/>
              <a:t> dark.</a:t>
            </a:r>
          </a:p>
        </p:txBody>
      </p:sp>
    </p:spTree>
    <p:extLst>
      <p:ext uri="{BB962C8B-B14F-4D97-AF65-F5344CB8AC3E}">
        <p14:creationId xmlns:p14="http://schemas.microsoft.com/office/powerpoint/2010/main" val="244348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4497-9FC6-FA14-89CA-6EC22493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= Pronunciation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F1B92-FD22-0301-0A2D-07B0BE22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Problem with spelling reform</a:t>
            </a:r>
            <a:r>
              <a:rPr lang="en-US" dirty="0"/>
              <a:t>: still trying to make 26 letters represent 40 or more sounds. </a:t>
            </a:r>
          </a:p>
          <a:p>
            <a:r>
              <a:rPr lang="en-US" b="1" u="sng" dirty="0"/>
              <a:t>Alphabet reform</a:t>
            </a:r>
            <a:r>
              <a:rPr lang="en-US" dirty="0"/>
              <a:t>: adds letters to better match sounds. </a:t>
            </a:r>
          </a:p>
          <a:p>
            <a:r>
              <a:rPr lang="en-US" b="1" u="sng" dirty="0"/>
              <a:t>Franklin alphabet</a:t>
            </a:r>
            <a:r>
              <a:rPr lang="en-US" dirty="0"/>
              <a:t>: </a:t>
            </a:r>
            <a:r>
              <a:rPr lang="en-US" dirty="0" err="1"/>
              <a:t>ɧi</a:t>
            </a:r>
            <a:r>
              <a:rPr lang="en-US" dirty="0"/>
              <a:t> </a:t>
            </a:r>
            <a:r>
              <a:rPr lang="en-US" dirty="0" err="1"/>
              <a:t>nɥit</a:t>
            </a:r>
            <a:r>
              <a:rPr lang="en-US" dirty="0"/>
              <a:t> </a:t>
            </a:r>
            <a:r>
              <a:rPr lang="en-US" dirty="0" err="1"/>
              <a:t>uoɑz</a:t>
            </a:r>
            <a:r>
              <a:rPr lang="en-US" dirty="0"/>
              <a:t> </a:t>
            </a:r>
            <a:r>
              <a:rPr lang="en-US" dirty="0" err="1"/>
              <a:t>dɑ̂rk</a:t>
            </a:r>
            <a:r>
              <a:rPr lang="en-US" dirty="0"/>
              <a:t>. </a:t>
            </a:r>
          </a:p>
          <a:p>
            <a:r>
              <a:rPr lang="en-US" b="1" u="sng" dirty="0"/>
              <a:t>Deseret alphabet</a:t>
            </a:r>
            <a:r>
              <a:rPr lang="en-US" dirty="0"/>
              <a:t>: 𐐜 𐑌𐐴𐐻 𐐶𐐱𐑆 𐐼𐐪𐑉𐐿.</a:t>
            </a:r>
          </a:p>
          <a:p>
            <a:r>
              <a:rPr lang="en-US" b="1" u="sng" dirty="0"/>
              <a:t>Shavian alphabet</a:t>
            </a:r>
            <a:r>
              <a:rPr lang="en-US" dirty="0"/>
              <a:t>: 𐑞 𐑯𐑲𐑑 𐑢𐑪𐑟 𐑛𐑸𐑒. </a:t>
            </a:r>
          </a:p>
        </p:txBody>
      </p:sp>
    </p:spTree>
    <p:extLst>
      <p:ext uri="{BB962C8B-B14F-4D97-AF65-F5344CB8AC3E}">
        <p14:creationId xmlns:p14="http://schemas.microsoft.com/office/powerpoint/2010/main" val="836141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575C-1AE0-4C2A-462B-4B7444B9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= Pronunciation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C24A-3A51-5B41-EF48-76B556F1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Franklin alphabet</a:t>
            </a:r>
            <a:r>
              <a:rPr lang="en-US" dirty="0"/>
              <a:t>: o ɑ a e </a:t>
            </a:r>
            <a:r>
              <a:rPr lang="en-US" dirty="0" err="1"/>
              <a:t>i</a:t>
            </a:r>
            <a:r>
              <a:rPr lang="en-US" dirty="0"/>
              <a:t> u ɥ h g k ʃ ŋ n r t d l ħ dh s z f v b p m</a:t>
            </a:r>
          </a:p>
          <a:p>
            <a:r>
              <a:rPr lang="en-US" b="1" u="sng" dirty="0"/>
              <a:t>Deseret alphabet</a:t>
            </a:r>
            <a:r>
              <a:rPr lang="en-US" dirty="0"/>
              <a:t>: 𐐀 𐐁 𐐂 𐐃 𐐄 𐐅 𐐆 𐐇 𐐈 𐐉 𐐊 𐐋 𐐌 𐐍 𐐎 𐐏 𐐐 𐐑 𐐒 𐐓 𐐔 𐐕 𐐖 𐐗 𐐘 𐐙 𐐚 𐐛 𐐜 𐐝 𐐞 𐐟 𐐠 𐐡 𐐢 𐐣 𐐤 𐐥</a:t>
            </a:r>
          </a:p>
          <a:p>
            <a:r>
              <a:rPr lang="en-US" b="1" u="sng" dirty="0"/>
              <a:t>Shavian alphabet</a:t>
            </a:r>
            <a:r>
              <a:rPr lang="en-US" dirty="0"/>
              <a:t>: 𐑐 𐑚 𐑑 𐑛 𐑒 𐑜 𐑓 𐑝 𐑔 𐑞 𐑕 𐑟 𐑖 𐑠 𐑗 𐑡 𐑘 𐑢 𐑙 𐑣 𐑤 𐑮 𐑥 𐑯 𐑦 𐑰 𐑧 𐑱 𐑨 𐑲 𐑩 𐑳 𐑪 𐑴 𐑫 𐑵 𐑬 𐑶 𐑭 𐑷 𐑸 𐑹 𐑺 𐑻 𐑼 𐑽 𐑾 𐑿</a:t>
            </a:r>
          </a:p>
        </p:txBody>
      </p:sp>
    </p:spTree>
    <p:extLst>
      <p:ext uri="{BB962C8B-B14F-4D97-AF65-F5344CB8AC3E}">
        <p14:creationId xmlns:p14="http://schemas.microsoft.com/office/powerpoint/2010/main" val="43609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F0CC-223C-E5D2-06B7-DC22B6C9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fix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9E86-5FE4-E8BA-BE8C-C43038C15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Since the last letter removed from the alphabet was ‘&amp;,’ why don’t we make it the first one back in?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This is ‘nun.’ It stands for ‘and.’
Think of it like </a:t>
            </a:r>
            <a:r>
              <a:rPr lang="en-US" b="1" u="sng" dirty="0"/>
              <a:t>bread ‘n’ butter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03E8D-C52A-3A57-B047-531E8D6AC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660" y="3681292"/>
            <a:ext cx="1504950" cy="1504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7362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F0CC-223C-E5D2-06B7-DC22B6C9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fix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9E86-5FE4-E8BA-BE8C-C43038C15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letter ‘tot.’ It often stands for the word ‘</a:t>
            </a:r>
            <a:r>
              <a:rPr lang="en-US" b="1" dirty="0"/>
              <a:t>to</a:t>
            </a:r>
            <a:r>
              <a:rPr lang="en-US" dirty="0"/>
              <a:t>.’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Think of </a:t>
            </a:r>
            <a:r>
              <a:rPr lang="en-US" b="1" u="sng" dirty="0"/>
              <a:t>to and from</a:t>
            </a:r>
            <a:r>
              <a:rPr lang="en-US" dirty="0"/>
              <a:t>.
Do NOT use ‘tot’ for the number ‘two’ or ‘too’ as in ‘also.’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1DC51-0DD9-08DD-604E-58717C0F9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424" y="3201621"/>
            <a:ext cx="1504950" cy="1504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5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63025F-1BA6-C6AB-F05D-987F19FE6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4" y="2044700"/>
            <a:ext cx="1504950" cy="1504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F4F0CC-223C-E5D2-06B7-DC22B6C9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fix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9E86-5FE4-E8BA-BE8C-C43038C15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3577981"/>
            <a:ext cx="3810000" cy="258151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This is the letter ‘if,’ but does NOT stand for the word ‘</a:t>
            </a:r>
            <a:r>
              <a:rPr lang="en-US" b="1" dirty="0"/>
              <a:t>if</a:t>
            </a:r>
            <a:r>
              <a:rPr lang="en-US" dirty="0"/>
              <a:t>.’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21B3E-A813-A615-7049-410ACBB16E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and → 𐑯</a:t>
            </a:r>
          </a:p>
          <a:p>
            <a:pPr marL="0" indent="0" algn="ctr">
              <a:buNone/>
            </a:pPr>
            <a:r>
              <a:rPr lang="en-US" dirty="0"/>
              <a:t>to → 𐑑</a:t>
            </a:r>
          </a:p>
          <a:p>
            <a:pPr marL="0" indent="0" algn="ctr">
              <a:buNone/>
            </a:pPr>
            <a:r>
              <a:rPr lang="en-US" dirty="0"/>
              <a:t>in → 𐑦𐑯</a:t>
            </a:r>
          </a:p>
          <a:p>
            <a:pPr marL="0" indent="0" algn="ctr">
              <a:buNone/>
            </a:pPr>
            <a:r>
              <a:rPr lang="en-US" dirty="0"/>
              <a:t>it → 𐑦𐑑</a:t>
            </a:r>
          </a:p>
        </p:txBody>
      </p:sp>
    </p:spTree>
    <p:extLst>
      <p:ext uri="{BB962C8B-B14F-4D97-AF65-F5344CB8AC3E}">
        <p14:creationId xmlns:p14="http://schemas.microsoft.com/office/powerpoint/2010/main" val="2391845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DFE4-AEF1-839D-A933-61721BA6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fix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FBF9-8C37-979C-BABB-999CCABAC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549650"/>
            <a:ext cx="7772400" cy="26098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 in </a:t>
            </a:r>
            <a:r>
              <a:rPr lang="en-US" b="1" u="sng" dirty="0"/>
              <a:t>𐑕𐑑𐑦𐑤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Even though ‘so’ looks like an ‘S,’ and it makes one of the ‘S’ sounds, it’s better to think of it as ‘so’ and a new letter with new rules.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1BBBA-C3C3-B5FD-928C-BC291E586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2044700"/>
            <a:ext cx="1504950" cy="1504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2F6260-E0BC-787A-AA3D-490318F42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50" y="2044700"/>
            <a:ext cx="1504950" cy="150495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52E870C-4609-DF13-C458-4A33BEF8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044701"/>
            <a:ext cx="4630127" cy="150494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Here’s are the letters ‘so’ and ‘loll.’ They’re used in the word ‘still,’ </a:t>
            </a:r>
          </a:p>
        </p:txBody>
      </p:sp>
    </p:spTree>
    <p:extLst>
      <p:ext uri="{BB962C8B-B14F-4D97-AF65-F5344CB8AC3E}">
        <p14:creationId xmlns:p14="http://schemas.microsoft.com/office/powerpoint/2010/main" val="423460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FAE2-A58B-AB4F-1778-BBCC460A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fix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C7F4-0659-C056-71E5-2D5E6503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3076" y="2044700"/>
            <a:ext cx="6158523" cy="4114800"/>
          </a:xfrm>
        </p:spPr>
        <p:txBody>
          <a:bodyPr/>
          <a:lstStyle/>
          <a:p>
            <a:r>
              <a:rPr lang="en-US" dirty="0"/>
              <a:t>You can’t spell ‘did’ without the letter ‘dead.’ ‘Did’ is spelled </a:t>
            </a:r>
            <a:r>
              <a:rPr lang="en-US" b="1" dirty="0"/>
              <a:t>𐑛𐑦𐑛</a:t>
            </a:r>
            <a:r>
              <a:rPr lang="en-US" dirty="0"/>
              <a:t>.</a:t>
            </a:r>
          </a:p>
          <a:p>
            <a:r>
              <a:rPr lang="en-US" dirty="0"/>
              <a:t>The letter ‘woe’ starts the word ‘will.’ It’s spelled </a:t>
            </a:r>
            <a:r>
              <a:rPr lang="en-US" b="1" dirty="0"/>
              <a:t>𐑢𐑦𐑤</a:t>
            </a:r>
            <a:r>
              <a:rPr lang="en-US" dirty="0"/>
              <a:t>.</a:t>
            </a:r>
          </a:p>
          <a:p>
            <a:r>
              <a:rPr lang="en-US" dirty="0"/>
              <a:t>‘Mum’ is the letter you need to spell ‘women’ → </a:t>
            </a:r>
            <a:r>
              <a:rPr lang="en-US" b="1" dirty="0"/>
              <a:t>𐑢𐑦𐑥𐑦𐑯</a:t>
            </a:r>
            <a:r>
              <a:rPr lang="en-US" dirty="0"/>
              <a:t>. Notice how </a:t>
            </a:r>
            <a:r>
              <a:rPr lang="en-US" b="1"/>
              <a:t>𐑢𐑦𐑥𐑦𐑯</a:t>
            </a:r>
            <a:r>
              <a:rPr lang="en-US"/>
              <a:t> is </a:t>
            </a:r>
            <a:r>
              <a:rPr lang="en-US" dirty="0"/>
              <a:t>spelled like it sounds.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47F1F-1046-6829-0BC3-B5E6DA408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611562"/>
            <a:ext cx="1504950" cy="1504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58B59-9C34-01F9-10A4-9E06F58A9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85975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037903-6BB4-9C5E-3085-3415D8647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13715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0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625444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𐑧 – </a:t>
            </a:r>
            <a:r>
              <a:rPr lang="en-US" b="1" u="sng" dirty="0"/>
              <a:t>e</a:t>
            </a:r>
            <a:r>
              <a:rPr lang="en-US" dirty="0"/>
              <a:t>gg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men → 𐑥𐑧𐑯</a:t>
            </a:r>
          </a:p>
          <a:p>
            <a:pPr algn="ctr" rtl="0"/>
            <a:r>
              <a:rPr lang="en-US" dirty="0"/>
              <a:t>said → 𐑕𐑧𐑛</a:t>
            </a:r>
          </a:p>
          <a:p>
            <a:pPr algn="ctr" rtl="0"/>
            <a:r>
              <a:rPr lang="en-US" dirty="0"/>
              <a:t>well → 𐑢𐑧𐑤</a:t>
            </a:r>
          </a:p>
          <a:p>
            <a:pPr algn="ctr" rtl="0"/>
            <a:r>
              <a:rPr lang="en-US" dirty="0"/>
              <a:t>went → 𐑢𐑧𐑯𐑑</a:t>
            </a:r>
          </a:p>
          <a:p>
            <a:pPr algn="ctr" rtl="0"/>
            <a:r>
              <a:rPr lang="en-US" dirty="0"/>
              <a:t>when → 𐑢𐑧𐑯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71CD4-0D02-D0F9-0927-D5E017D6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39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𐑩 – </a:t>
            </a:r>
            <a:r>
              <a:rPr lang="en-US" b="1" u="sng" dirty="0"/>
              <a:t>a</a:t>
            </a:r>
            <a:r>
              <a:rPr lang="en-US" dirty="0"/>
              <a:t>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a → 𐑩
an → 𐑩𐑯
didn’t → 𐑛𐑦𐑛𐑩𐑯𐑑
little → 𐑤𐑦𐑑𐑩𐑤
unless → 𐑩𐑯𐑤𐑧𐑕
until → 𐑩𐑯𐑑𐑦𐑤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3C4AF-AB01-D5A9-F880-16C9A6BF0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2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𐑳 – </a:t>
            </a:r>
            <a:r>
              <a:rPr lang="en-US" b="1" u="sng" dirty="0"/>
              <a:t>u</a:t>
            </a:r>
            <a:r>
              <a:rPr lang="en-US" dirty="0"/>
              <a:t>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 rtl="0"/>
            <a:r>
              <a:rPr lang="en-US" dirty="0"/>
              <a:t>done → 𐑛𐑳𐑯</a:t>
            </a:r>
          </a:p>
          <a:p>
            <a:pPr algn="ctr" rtl="0"/>
            <a:r>
              <a:rPr lang="en-US" dirty="0"/>
              <a:t>must → 𐑥𐑳𐑕𐑑</a:t>
            </a:r>
          </a:p>
          <a:p>
            <a:pPr algn="ctr" rtl="0"/>
            <a:r>
              <a:rPr lang="en-US" dirty="0"/>
              <a:t>none → 𐑯𐑳𐑯</a:t>
            </a:r>
          </a:p>
          <a:p>
            <a:pPr algn="ctr" rtl="0"/>
            <a:r>
              <a:rPr lang="en-US" dirty="0"/>
              <a:t>once → 𐑢𐑳𐑯𐑕</a:t>
            </a:r>
          </a:p>
          <a:p>
            <a:pPr algn="ctr" rtl="0"/>
            <a:r>
              <a:rPr lang="en-US" dirty="0"/>
              <a:t>one → 𐑢𐑳𐑯</a:t>
            </a:r>
          </a:p>
          <a:p>
            <a:pPr algn="ctr" rtl="0"/>
            <a:r>
              <a:rPr lang="en-US" dirty="0"/>
              <a:t>some → 𐑕𐑳𐑥</a:t>
            </a:r>
          </a:p>
          <a:p>
            <a:pPr algn="ctr" rtl="0"/>
            <a:r>
              <a:rPr lang="en-US" dirty="0"/>
              <a:t>us → 𐑳𐑕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A8A03-CB20-6DC1-22B0-FE2BCFEFA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35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𐑒 – </a:t>
            </a:r>
            <a:r>
              <a:rPr lang="en-US" b="1" u="sng" dirty="0"/>
              <a:t>k</a:t>
            </a:r>
            <a:r>
              <a:rPr lang="en-US" dirty="0"/>
              <a:t>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 rtl="0"/>
            <a:r>
              <a:rPr lang="en-US" dirty="0"/>
              <a:t>come → 𐑒𐑳𐑥</a:t>
            </a:r>
          </a:p>
          <a:p>
            <a:pPr algn="ctr" rtl="0"/>
            <a:r>
              <a:rPr lang="en-US" dirty="0"/>
              <a:t>next → 𐑯𐑧𐑒𐑕𐑑</a:t>
            </a:r>
          </a:p>
          <a:p>
            <a:pPr marL="0" indent="0" algn="ctr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53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𐑱 – </a:t>
            </a:r>
            <a:r>
              <a:rPr lang="en-US" b="1" u="sng" dirty="0"/>
              <a:t>a</a:t>
            </a:r>
            <a:r>
              <a:rPr lang="en-US" dirty="0"/>
              <a:t>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2886764" cy="4114800"/>
          </a:xfrm>
        </p:spPr>
        <p:txBody>
          <a:bodyPr anchor="t"/>
          <a:lstStyle/>
          <a:p>
            <a:r>
              <a:rPr lang="en-US" dirty="0"/>
              <a:t>away → 𐑩𐑢𐑱 </a:t>
            </a:r>
          </a:p>
          <a:p>
            <a:pPr rtl="0"/>
            <a:r>
              <a:rPr lang="en-US" dirty="0"/>
              <a:t>came → 𐑒𐑱𐑥</a:t>
            </a:r>
          </a:p>
          <a:p>
            <a:pPr rtl="0"/>
            <a:r>
              <a:rPr lang="en-US" dirty="0"/>
              <a:t>day → 𐑛𐑱</a:t>
            </a:r>
          </a:p>
          <a:p>
            <a:pPr rtl="0"/>
            <a:r>
              <a:rPr lang="en-US" dirty="0"/>
              <a:t>made → 𐑥𐑱𐑛</a:t>
            </a:r>
          </a:p>
          <a:p>
            <a:pPr rtl="0"/>
            <a:r>
              <a:rPr lang="en-US" dirty="0"/>
              <a:t>make → 𐑥𐑱𐑒</a:t>
            </a:r>
          </a:p>
          <a:p>
            <a:pPr rtl="0"/>
            <a:r>
              <a:rPr lang="en-US" dirty="0"/>
              <a:t>may → 𐑥𐑱</a:t>
            </a:r>
          </a:p>
          <a:p>
            <a:pPr rtl="0"/>
            <a:r>
              <a:rPr lang="en-US" dirty="0"/>
              <a:t>same → 𐑕𐑱𐑥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018" y="2044700"/>
            <a:ext cx="2997296" cy="4114800"/>
          </a:xfrm>
        </p:spPr>
        <p:txBody>
          <a:bodyPr anchor="t"/>
          <a:lstStyle/>
          <a:p>
            <a:r>
              <a:rPr lang="en-US" dirty="0"/>
              <a:t>say → 𐑕𐑱</a:t>
            </a:r>
          </a:p>
          <a:p>
            <a:r>
              <a:rPr lang="en-US" dirty="0"/>
              <a:t>take → 𐑑𐑱𐑒</a:t>
            </a:r>
          </a:p>
          <a:p>
            <a:pPr rtl="0"/>
            <a:r>
              <a:rPr lang="en-US" dirty="0"/>
              <a:t>today → 𐑑𐑩𐑛𐑱</a:t>
            </a:r>
          </a:p>
          <a:p>
            <a:pPr rtl="0"/>
            <a:r>
              <a:rPr lang="en-US" dirty="0"/>
              <a:t>way → 𐑢𐑱</a:t>
            </a:r>
          </a:p>
        </p:txBody>
      </p:sp>
    </p:spTree>
    <p:extLst>
      <p:ext uri="{BB962C8B-B14F-4D97-AF65-F5344CB8AC3E}">
        <p14:creationId xmlns:p14="http://schemas.microsoft.com/office/powerpoint/2010/main" val="400758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𐑮 – </a:t>
            </a:r>
            <a:r>
              <a:rPr lang="en-US" b="1" u="sng" dirty="0"/>
              <a:t>r</a:t>
            </a:r>
            <a:r>
              <a:rPr lang="en-US" dirty="0"/>
              <a:t>oar     𐑼 – </a:t>
            </a:r>
            <a:r>
              <a:rPr lang="en-US" b="1" u="sng" dirty="0"/>
              <a:t>arr</a:t>
            </a:r>
            <a:r>
              <a:rPr lang="en-US" dirty="0"/>
              <a:t>ay      𐑽 – </a:t>
            </a:r>
            <a:r>
              <a:rPr lang="en-US" b="1" u="sng" dirty="0"/>
              <a:t>ear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written → 𐑮𐑦𐑑𐑩𐑯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616537"/>
            <a:ext cx="1504950" cy="1504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CF76C-55A6-82F7-9D7E-92F07A4A7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188374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616537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under → 𐑳𐑯𐑛𐑼 </a:t>
            </a:r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D7B3C0-A14C-3AE6-E32E-4FE3B4BC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5188374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dear → 𐑛𐑽 </a:t>
            </a:r>
          </a:p>
          <a:p>
            <a:pPr rtl="0"/>
            <a:r>
              <a:rPr lang="en-US" dirty="0"/>
              <a:t>near → 𐑯𐑽 </a:t>
            </a:r>
          </a:p>
        </p:txBody>
      </p:sp>
    </p:spTree>
    <p:extLst>
      <p:ext uri="{BB962C8B-B14F-4D97-AF65-F5344CB8AC3E}">
        <p14:creationId xmlns:p14="http://schemas.microsoft.com/office/powerpoint/2010/main" val="4258981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1900727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𐑧</a:t>
            </a:r>
            <a:r>
              <a:rPr lang="en-US" dirty="0"/>
              <a:t> </a:t>
            </a:r>
            <a:r>
              <a:rPr lang="en-US" i="1" dirty="0"/>
              <a:t>egg</a:t>
            </a:r>
            <a:r>
              <a:rPr lang="en-US" dirty="0"/>
              <a:t> – 𐑥𐑧𐑯 (men), 𐑕𐑧𐑛 (said), 𐑢𐑧𐑤 (well)</a:t>
            </a:r>
          </a:p>
          <a:p>
            <a:r>
              <a:rPr lang="en-US" dirty="0">
                <a:latin typeface="+mj-lt"/>
              </a:rPr>
              <a:t>𐑩</a:t>
            </a:r>
            <a:r>
              <a:rPr lang="en-US" dirty="0"/>
              <a:t> </a:t>
            </a:r>
            <a:r>
              <a:rPr lang="en-US" i="1" dirty="0"/>
              <a:t>ado</a:t>
            </a:r>
            <a:r>
              <a:rPr lang="en-US" dirty="0"/>
              <a:t> – 𐑩 (a), 𐑛𐑦𐑛𐑩𐑯𐑑 (didn’t), 𐑤𐑦𐑑𐑩𐑤 (little)</a:t>
            </a:r>
          </a:p>
          <a:p>
            <a:r>
              <a:rPr lang="en-US" dirty="0">
                <a:latin typeface="+mj-lt"/>
              </a:rPr>
              <a:t>𐑳</a:t>
            </a:r>
            <a:r>
              <a:rPr lang="en-US" dirty="0"/>
              <a:t> </a:t>
            </a:r>
            <a:r>
              <a:rPr lang="en-US" i="1" dirty="0"/>
              <a:t>up</a:t>
            </a:r>
            <a:r>
              <a:rPr lang="en-US" dirty="0"/>
              <a:t> – 𐑛𐑳𐑯 (done), 𐑢𐑳𐑯 (one)</a:t>
            </a:r>
          </a:p>
          <a:p>
            <a:r>
              <a:rPr lang="en-US" dirty="0">
                <a:latin typeface="+mj-lt"/>
              </a:rPr>
              <a:t>𐑒 </a:t>
            </a:r>
            <a:r>
              <a:rPr lang="en-US" i="1" dirty="0"/>
              <a:t>kick</a:t>
            </a:r>
            <a:r>
              <a:rPr lang="en-US" dirty="0"/>
              <a:t> – 𐑒𐑳𐑥 (come), 𐑯𐑧𐑒𐑕𐑑 (next)</a:t>
            </a:r>
          </a:p>
          <a:p>
            <a:r>
              <a:rPr lang="en-US" dirty="0">
                <a:latin typeface="+mj-lt"/>
              </a:rPr>
              <a:t>𐑱</a:t>
            </a:r>
            <a:r>
              <a:rPr lang="en-US" dirty="0"/>
              <a:t> </a:t>
            </a:r>
            <a:r>
              <a:rPr lang="en-US" i="1" dirty="0"/>
              <a:t>age </a:t>
            </a:r>
            <a:r>
              <a:rPr lang="en-US" dirty="0"/>
              <a:t>– 𐑥𐑱𐑒 (make), 𐑑𐑩𐑛𐑱 (today)</a:t>
            </a:r>
          </a:p>
          <a:p>
            <a:r>
              <a:rPr lang="en-US" dirty="0">
                <a:latin typeface="+mj-lt"/>
              </a:rPr>
              <a:t>𐑮</a:t>
            </a:r>
            <a:r>
              <a:rPr lang="en-US" dirty="0"/>
              <a:t> </a:t>
            </a:r>
            <a:r>
              <a:rPr lang="en-US" i="1" dirty="0"/>
              <a:t>roar</a:t>
            </a:r>
            <a:r>
              <a:rPr lang="en-US" dirty="0"/>
              <a:t> – 𐑮𐑦𐑑𐑩𐑯 (written)</a:t>
            </a:r>
          </a:p>
          <a:p>
            <a:r>
              <a:rPr lang="en-US" dirty="0">
                <a:latin typeface="+mj-lt"/>
              </a:rPr>
              <a:t>𐑼</a:t>
            </a:r>
            <a:r>
              <a:rPr lang="en-US" dirty="0"/>
              <a:t> </a:t>
            </a:r>
            <a:r>
              <a:rPr lang="en-US" i="1" dirty="0"/>
              <a:t>array</a:t>
            </a:r>
            <a:r>
              <a:rPr lang="en-US" dirty="0"/>
              <a:t> – 𐑳𐑯𐑛𐑼 (under)</a:t>
            </a:r>
          </a:p>
          <a:p>
            <a:r>
              <a:rPr lang="en-US" dirty="0">
                <a:latin typeface="+mj-lt"/>
              </a:rPr>
              <a:t>𐑽</a:t>
            </a:r>
            <a:r>
              <a:rPr lang="en-US" dirty="0"/>
              <a:t> </a:t>
            </a:r>
            <a:r>
              <a:rPr lang="en-US" i="1" dirty="0"/>
              <a:t>ear</a:t>
            </a:r>
            <a:r>
              <a:rPr lang="en-US" dirty="0"/>
              <a:t> – 𐑛𐑽 (dear), 𐑯𐑽 (near)</a:t>
            </a:r>
          </a:p>
        </p:txBody>
      </p:sp>
    </p:spTree>
    <p:extLst>
      <p:ext uri="{BB962C8B-B14F-4D97-AF65-F5344CB8AC3E}">
        <p14:creationId xmlns:p14="http://schemas.microsoft.com/office/powerpoint/2010/main" val="1506008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𐑺 – </a:t>
            </a:r>
            <a:r>
              <a:rPr lang="en-US" b="1" u="sng" dirty="0"/>
              <a:t>air</a:t>
            </a:r>
            <a:r>
              <a:rPr lang="en-US" dirty="0"/>
              <a:t>     𐑻 – </a:t>
            </a:r>
            <a:r>
              <a:rPr lang="en-US" b="1" u="sng" dirty="0"/>
              <a:t>err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where → 𐑢𐑺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9200" y="3616537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616536"/>
            <a:ext cx="6072324" cy="2822364"/>
          </a:xfrm>
        </p:spPr>
        <p:txBody>
          <a:bodyPr anchor="t"/>
          <a:lstStyle/>
          <a:p>
            <a:pPr rtl="0"/>
            <a:r>
              <a:rPr lang="en-US" dirty="0"/>
              <a:t>were → 𐑢𐑻
word → 𐑢𐑻𐑛
work → 𐑢𐑻𐑒
world → 𐑢𐑻𐑤</a:t>
            </a:r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528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𐑞 – </a:t>
            </a:r>
            <a:r>
              <a:rPr lang="en-US" b="1" u="sng" dirty="0"/>
              <a:t>th</a:t>
            </a:r>
            <a:r>
              <a:rPr lang="en-US" dirty="0"/>
              <a:t>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2997296" cy="4114800"/>
          </a:xfrm>
        </p:spPr>
        <p:txBody>
          <a:bodyPr anchor="t"/>
          <a:lstStyle/>
          <a:p>
            <a:r>
              <a:rPr lang="en-US" dirty="0"/>
              <a:t>other → 𐑳𐑞𐑼</a:t>
            </a:r>
          </a:p>
          <a:p>
            <a:pPr rtl="0"/>
            <a:r>
              <a:rPr lang="en-US" dirty="0"/>
              <a:t>the → 𐑞</a:t>
            </a:r>
          </a:p>
          <a:p>
            <a:pPr rtl="0"/>
            <a:r>
              <a:rPr lang="en-US" dirty="0"/>
              <a:t>their → 𐑞𐑺</a:t>
            </a:r>
          </a:p>
          <a:p>
            <a:pPr rtl="0"/>
            <a:r>
              <a:rPr lang="en-US" dirty="0"/>
              <a:t>them → 𐑞𐑧𐑥</a:t>
            </a:r>
          </a:p>
          <a:p>
            <a:pPr rtl="0"/>
            <a:r>
              <a:rPr lang="en-US" dirty="0"/>
              <a:t>then → 𐑞𐑧𐑯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082" y="2044700"/>
            <a:ext cx="2776232" cy="4114800"/>
          </a:xfrm>
        </p:spPr>
        <p:txBody>
          <a:bodyPr anchor="t"/>
          <a:lstStyle/>
          <a:p>
            <a:pPr rtl="0"/>
            <a:r>
              <a:rPr lang="en-US" dirty="0"/>
              <a:t>there → 𐑞𐑺</a:t>
            </a:r>
          </a:p>
          <a:p>
            <a:pPr rtl="0"/>
            <a:r>
              <a:rPr lang="en-US" dirty="0"/>
              <a:t>they → 𐑞𐑱</a:t>
            </a:r>
          </a:p>
          <a:p>
            <a:pPr rtl="0"/>
            <a:r>
              <a:rPr lang="en-US" dirty="0"/>
              <a:t>this → 𐑞𐑦𐑕</a:t>
            </a:r>
          </a:p>
          <a:p>
            <a:pPr rtl="0"/>
            <a:r>
              <a:rPr lang="en-US" dirty="0"/>
              <a:t>with → 𐑢𐑦𐑞</a:t>
            </a:r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62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𐑟 – </a:t>
            </a:r>
            <a:r>
              <a:rPr lang="en-US" b="1" u="sng" dirty="0"/>
              <a:t>z</a:t>
            </a:r>
            <a:r>
              <a:rPr lang="en-US" b="1" dirty="0"/>
              <a:t>oo</a:t>
            </a:r>
            <a:r>
              <a:rPr lang="en-US" dirty="0"/>
              <a:t>     𐑪 – </a:t>
            </a:r>
            <a:r>
              <a:rPr lang="en-US" b="1" u="sng" dirty="0"/>
              <a:t>o</a:t>
            </a:r>
            <a:r>
              <a:rPr lang="en-US" b="1" dirty="0"/>
              <a:t>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t"/>
          <a:lstStyle/>
          <a:p>
            <a:pPr rtl="0"/>
            <a:r>
              <a:rPr lang="en-US" dirty="0"/>
              <a:t>does → 𐑛𐑳𐑟</a:t>
            </a:r>
          </a:p>
          <a:p>
            <a:pPr rtl="0"/>
            <a:r>
              <a:rPr lang="en-US" dirty="0"/>
              <a:t>is → 𐑦𐑟</a:t>
            </a:r>
          </a:p>
          <a:p>
            <a:pPr rtl="0"/>
            <a:r>
              <a:rPr lang="en-US" dirty="0"/>
              <a:t>says → 𐑕𐑧𐑟</a:t>
            </a:r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032250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788554"/>
            <a:ext cx="6072324" cy="2650345"/>
          </a:xfrm>
        </p:spPr>
        <p:txBody>
          <a:bodyPr anchor="t"/>
          <a:lstStyle/>
          <a:p>
            <a:pPr rtl="0"/>
            <a:r>
              <a:rPr lang="en-US" dirty="0"/>
              <a:t>lost → 𐑤𐑪𐑕𐑑</a:t>
            </a:r>
          </a:p>
          <a:p>
            <a:pPr rtl="0"/>
            <a:r>
              <a:rPr lang="en-US" dirty="0"/>
              <a:t>not → 𐑯𐑪𐑑</a:t>
            </a:r>
          </a:p>
          <a:p>
            <a:pPr rtl="0"/>
            <a:r>
              <a:rPr lang="en-US" dirty="0"/>
              <a:t>on → 𐑪𐑯</a:t>
            </a:r>
          </a:p>
          <a:p>
            <a:pPr rtl="0"/>
            <a:r>
              <a:rPr lang="en-US" dirty="0"/>
              <a:t>want → 𐑢𐑪𐑯𐑑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6FFAD9-74AD-A41D-6DE2-8120294A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424" y="3812978"/>
            <a:ext cx="3404576" cy="2650345"/>
          </a:xfrm>
        </p:spPr>
        <p:txBody>
          <a:bodyPr anchor="t"/>
          <a:lstStyle/>
          <a:p>
            <a:pPr rtl="0"/>
            <a:r>
              <a:rPr lang="en-US" dirty="0"/>
              <a:t>was → 𐑢𐑪𐑟</a:t>
            </a:r>
          </a:p>
          <a:p>
            <a:pPr rtl="0"/>
            <a:r>
              <a:rPr lang="en-US" dirty="0"/>
              <a:t>wasn’t → 𐑢𐑪𐑟𐑩𐑯𐑑</a:t>
            </a:r>
          </a:p>
          <a:p>
            <a:pPr rtl="0"/>
            <a:r>
              <a:rPr lang="en-US" dirty="0"/>
              <a:t>what → 𐑢𐑪𐑑</a:t>
            </a:r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07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𐑰 – </a:t>
            </a:r>
            <a:r>
              <a:rPr lang="en-US" b="1" u="sng" dirty="0"/>
              <a:t>e</a:t>
            </a:r>
            <a:r>
              <a:rPr lang="en-US" b="1" dirty="0"/>
              <a:t>at</a:t>
            </a:r>
            <a:r>
              <a:rPr lang="en-US" dirty="0"/>
              <a:t>     𐑴 – </a:t>
            </a:r>
            <a:r>
              <a:rPr lang="en-US" b="1" u="sng" dirty="0"/>
              <a:t>o</a:t>
            </a:r>
            <a:r>
              <a:rPr lang="en-US" b="1" dirty="0"/>
              <a:t>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t"/>
          <a:lstStyle/>
          <a:p>
            <a:pPr rtl="0"/>
            <a:r>
              <a:rPr lang="en-US" dirty="0"/>
              <a:t>me → 𐑥𐑰</a:t>
            </a:r>
          </a:p>
          <a:p>
            <a:pPr rtl="0"/>
            <a:r>
              <a:rPr lang="en-US" dirty="0"/>
              <a:t>read → 𐑮𐑰𐑛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032250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788554"/>
            <a:ext cx="6072324" cy="2650345"/>
          </a:xfrm>
        </p:spPr>
        <p:txBody>
          <a:bodyPr anchor="t"/>
          <a:lstStyle/>
          <a:p>
            <a:pPr rtl="0"/>
            <a:r>
              <a:rPr lang="en-US" dirty="0"/>
              <a:t>don’t → 𐑛𐑴𐑯𐑑</a:t>
            </a:r>
          </a:p>
          <a:p>
            <a:pPr rtl="0"/>
            <a:r>
              <a:rPr lang="en-US" dirty="0"/>
              <a:t>know → 𐑯𐑴</a:t>
            </a:r>
          </a:p>
          <a:p>
            <a:pPr rtl="0"/>
            <a:r>
              <a:rPr lang="en-US" dirty="0"/>
              <a:t>most → 𐑥𐑴𐑕𐑑</a:t>
            </a:r>
          </a:p>
          <a:p>
            <a:pPr rtl="0"/>
            <a:r>
              <a:rPr lang="en-US" dirty="0"/>
              <a:t>no → 𐑯𐑴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6FFAD9-74AD-A41D-6DE2-8120294A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116" y="3812978"/>
            <a:ext cx="3185884" cy="2650345"/>
          </a:xfrm>
        </p:spPr>
        <p:txBody>
          <a:bodyPr anchor="t"/>
          <a:lstStyle/>
          <a:p>
            <a:pPr rtl="0"/>
            <a:r>
              <a:rPr lang="en-US" dirty="0"/>
              <a:t>old → 𐑴𐑤𐑛</a:t>
            </a:r>
          </a:p>
          <a:p>
            <a:pPr rtl="0"/>
            <a:r>
              <a:rPr lang="en-US" dirty="0"/>
              <a:t>own → 𐑴𐑯</a:t>
            </a:r>
          </a:p>
          <a:p>
            <a:pPr rtl="0"/>
            <a:r>
              <a:rPr lang="en-US" dirty="0"/>
              <a:t>so → 𐑕𐑴</a:t>
            </a:r>
          </a:p>
          <a:p>
            <a:pPr rtl="0"/>
            <a:r>
              <a:rPr lang="en-US" dirty="0"/>
              <a:t>those → 𐑞𐑴𐑟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D4C7CD-4A27-EAE5-9000-8181EAC1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424" y="2103828"/>
            <a:ext cx="3404576" cy="1619316"/>
          </a:xfrm>
        </p:spPr>
        <p:txBody>
          <a:bodyPr anchor="t"/>
          <a:lstStyle/>
          <a:p>
            <a:pPr rtl="0"/>
            <a:r>
              <a:rPr lang="en-US" dirty="0"/>
              <a:t>these → 𐑞𐑰𐑟</a:t>
            </a:r>
          </a:p>
          <a:p>
            <a:pPr rtl="0"/>
            <a:r>
              <a:rPr lang="en-US" dirty="0"/>
              <a:t>we → 𐑢𐑰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881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𐑨 – </a:t>
            </a:r>
            <a:r>
              <a:rPr lang="en-US" b="1" u="sng" dirty="0"/>
              <a:t>a</a:t>
            </a:r>
            <a:r>
              <a:rPr lang="en-US" dirty="0"/>
              <a:t>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3675136" cy="4114800"/>
          </a:xfrm>
        </p:spPr>
        <p:txBody>
          <a:bodyPr anchor="t"/>
          <a:lstStyle/>
          <a:p>
            <a:r>
              <a:rPr lang="en-US" dirty="0"/>
              <a:t>am → 𐑨𐑥</a:t>
            </a:r>
          </a:p>
          <a:p>
            <a:pPr rtl="0"/>
            <a:r>
              <a:rPr lang="en-US" dirty="0"/>
              <a:t>as → 𐑨𐑟</a:t>
            </a:r>
          </a:p>
          <a:p>
            <a:pPr rtl="0"/>
            <a:r>
              <a:rPr lang="en-US" dirty="0"/>
              <a:t>at → 𐑨𐑑</a:t>
            </a:r>
          </a:p>
          <a:p>
            <a:pPr rtl="0"/>
            <a:r>
              <a:rPr lang="en-US" dirty="0"/>
              <a:t>can → 𐑒𐑨𐑯</a:t>
            </a:r>
          </a:p>
          <a:p>
            <a:pPr rtl="0"/>
            <a:r>
              <a:rPr lang="en-US" dirty="0"/>
              <a:t>cannot → 𐑒𐑨𐑯𐑪𐑑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082" y="2044700"/>
            <a:ext cx="2776232" cy="4114800"/>
          </a:xfrm>
        </p:spPr>
        <p:txBody>
          <a:bodyPr anchor="t"/>
          <a:lstStyle/>
          <a:p>
            <a:pPr rtl="0"/>
            <a:r>
              <a:rPr lang="en-US" dirty="0"/>
              <a:t>man → 𐑥𐑨𐑯</a:t>
            </a:r>
          </a:p>
          <a:p>
            <a:pPr rtl="0"/>
            <a:r>
              <a:rPr lang="en-US" dirty="0"/>
              <a:t>than → 𐑞𐑨𐑯</a:t>
            </a:r>
          </a:p>
          <a:p>
            <a:pPr rtl="0"/>
            <a:r>
              <a:rPr lang="en-US" dirty="0"/>
              <a:t>that → 𐑞𐑨𐑑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93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2558940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𐑧</a:t>
            </a:r>
            <a:r>
              <a:rPr lang="en-US" dirty="0"/>
              <a:t> </a:t>
            </a:r>
            <a:r>
              <a:rPr lang="en-US" i="1" dirty="0"/>
              <a:t>egg</a:t>
            </a:r>
            <a:r>
              <a:rPr lang="en-US" dirty="0"/>
              <a:t> – 𐑥𐑧𐑯 (men), 𐑕𐑧𐑛 (said), 𐑢𐑧𐑤 (well)</a:t>
            </a:r>
          </a:p>
          <a:p>
            <a:r>
              <a:rPr lang="en-US" dirty="0">
                <a:latin typeface="+mj-lt"/>
              </a:rPr>
              <a:t>𐑩</a:t>
            </a:r>
            <a:r>
              <a:rPr lang="en-US" dirty="0"/>
              <a:t> </a:t>
            </a:r>
            <a:r>
              <a:rPr lang="en-US" i="1" dirty="0"/>
              <a:t>ado</a:t>
            </a:r>
            <a:r>
              <a:rPr lang="en-US" dirty="0"/>
              <a:t> – 𐑩 (a), 𐑛𐑦𐑛𐑩𐑯𐑑 (didn’t), 𐑤𐑦𐑑𐑩𐑤 (little)</a:t>
            </a:r>
          </a:p>
          <a:p>
            <a:r>
              <a:rPr lang="en-US" dirty="0">
                <a:latin typeface="+mj-lt"/>
              </a:rPr>
              <a:t>𐑳</a:t>
            </a:r>
            <a:r>
              <a:rPr lang="en-US" dirty="0"/>
              <a:t> </a:t>
            </a:r>
            <a:r>
              <a:rPr lang="en-US" i="1" dirty="0"/>
              <a:t>up</a:t>
            </a:r>
            <a:r>
              <a:rPr lang="en-US" dirty="0"/>
              <a:t> – 𐑛𐑳𐑯 (done), 𐑢𐑳𐑯 (one)</a:t>
            </a:r>
          </a:p>
          <a:p>
            <a:r>
              <a:rPr lang="en-US" dirty="0">
                <a:latin typeface="+mj-lt"/>
              </a:rPr>
              <a:t>𐑒 </a:t>
            </a:r>
            <a:r>
              <a:rPr lang="en-US" i="1" dirty="0"/>
              <a:t>kick</a:t>
            </a:r>
            <a:r>
              <a:rPr lang="en-US" dirty="0"/>
              <a:t> – 𐑒𐑳𐑥 (come), 𐑯𐑧𐑒𐑕𐑑 (next)</a:t>
            </a:r>
          </a:p>
          <a:p>
            <a:r>
              <a:rPr lang="en-US" dirty="0">
                <a:latin typeface="+mj-lt"/>
              </a:rPr>
              <a:t>𐑱</a:t>
            </a:r>
            <a:r>
              <a:rPr lang="en-US" dirty="0"/>
              <a:t> </a:t>
            </a:r>
            <a:r>
              <a:rPr lang="en-US" i="1" dirty="0"/>
              <a:t>age </a:t>
            </a:r>
            <a:r>
              <a:rPr lang="en-US" dirty="0"/>
              <a:t>– 𐑥𐑱𐑒 (make), 𐑑𐑩𐑛𐑱 (today)</a:t>
            </a:r>
          </a:p>
          <a:p>
            <a:r>
              <a:rPr lang="en-US" dirty="0">
                <a:latin typeface="+mj-lt"/>
              </a:rPr>
              <a:t>𐑮</a:t>
            </a:r>
            <a:r>
              <a:rPr lang="en-US" dirty="0"/>
              <a:t> </a:t>
            </a:r>
            <a:r>
              <a:rPr lang="en-US" i="1" dirty="0"/>
              <a:t>roar</a:t>
            </a:r>
            <a:r>
              <a:rPr lang="en-US" dirty="0"/>
              <a:t> – 𐑮𐑦𐑑𐑩𐑯 (written)</a:t>
            </a:r>
          </a:p>
          <a:p>
            <a:r>
              <a:rPr lang="en-US" dirty="0">
                <a:latin typeface="+mj-lt"/>
              </a:rPr>
              <a:t>𐑼</a:t>
            </a:r>
            <a:r>
              <a:rPr lang="en-US" dirty="0"/>
              <a:t> </a:t>
            </a:r>
            <a:r>
              <a:rPr lang="en-US" i="1" dirty="0"/>
              <a:t>array</a:t>
            </a:r>
            <a:r>
              <a:rPr lang="en-US" dirty="0"/>
              <a:t> – 𐑳𐑯𐑛𐑼 (under)</a:t>
            </a:r>
          </a:p>
          <a:p>
            <a:r>
              <a:rPr lang="en-US" dirty="0">
                <a:latin typeface="+mj-lt"/>
              </a:rPr>
              <a:t>𐑽</a:t>
            </a:r>
            <a:r>
              <a:rPr lang="en-US" dirty="0"/>
              <a:t> </a:t>
            </a:r>
            <a:r>
              <a:rPr lang="en-US" i="1" dirty="0"/>
              <a:t>ear</a:t>
            </a:r>
            <a:r>
              <a:rPr lang="en-US" dirty="0"/>
              <a:t> – 𐑛𐑽 (dear), 𐑯𐑽 (near)</a:t>
            </a:r>
          </a:p>
        </p:txBody>
      </p:sp>
    </p:spTree>
    <p:extLst>
      <p:ext uri="{BB962C8B-B14F-4D97-AF65-F5344CB8AC3E}">
        <p14:creationId xmlns:p14="http://schemas.microsoft.com/office/powerpoint/2010/main" val="2907661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𐑺</a:t>
            </a:r>
            <a:r>
              <a:rPr lang="en-US" dirty="0"/>
              <a:t> </a:t>
            </a:r>
            <a:r>
              <a:rPr lang="en-US" i="1" dirty="0"/>
              <a:t>air</a:t>
            </a:r>
            <a:r>
              <a:rPr lang="en-US" dirty="0"/>
              <a:t> – 𐑢𐑺 (where)</a:t>
            </a:r>
          </a:p>
          <a:p>
            <a:r>
              <a:rPr lang="en-US" dirty="0">
                <a:latin typeface="+mj-lt"/>
              </a:rPr>
              <a:t>𐑻</a:t>
            </a:r>
            <a:r>
              <a:rPr lang="en-US" dirty="0"/>
              <a:t> </a:t>
            </a:r>
            <a:r>
              <a:rPr lang="en-US" i="1" dirty="0"/>
              <a:t>err</a:t>
            </a:r>
            <a:r>
              <a:rPr lang="en-US" dirty="0"/>
              <a:t> – 𐑢𐑻 (were), 𐑢𐑻𐑤𐑛 (world)</a:t>
            </a:r>
          </a:p>
          <a:p>
            <a:r>
              <a:rPr lang="en-US" dirty="0">
                <a:latin typeface="+mj-lt"/>
              </a:rPr>
              <a:t>𐑞</a:t>
            </a:r>
            <a:r>
              <a:rPr lang="en-US" dirty="0"/>
              <a:t> </a:t>
            </a:r>
            <a:r>
              <a:rPr lang="en-US" i="1" dirty="0"/>
              <a:t>they</a:t>
            </a:r>
            <a:r>
              <a:rPr lang="en-US" dirty="0"/>
              <a:t> – 𐑳𐑞𐑼 (other), 𐑞𐑧𐑯 (then)</a:t>
            </a:r>
          </a:p>
          <a:p>
            <a:r>
              <a:rPr lang="en-US" dirty="0">
                <a:latin typeface="+mj-lt"/>
              </a:rPr>
              <a:t>𐑟 </a:t>
            </a:r>
            <a:r>
              <a:rPr lang="en-US" i="1" dirty="0"/>
              <a:t>zoo</a:t>
            </a:r>
            <a:r>
              <a:rPr lang="en-US" dirty="0"/>
              <a:t> – 𐑛𐑳𐑟 (does), 𐑦𐑟 (is), 𐑕𐑧𐑟 (says)</a:t>
            </a:r>
          </a:p>
          <a:p>
            <a:r>
              <a:rPr lang="en-US" dirty="0">
                <a:latin typeface="+mj-lt"/>
              </a:rPr>
              <a:t>𐑪</a:t>
            </a:r>
            <a:r>
              <a:rPr lang="en-US" dirty="0"/>
              <a:t> </a:t>
            </a:r>
            <a:r>
              <a:rPr lang="en-US" i="1" dirty="0"/>
              <a:t>on </a:t>
            </a:r>
            <a:r>
              <a:rPr lang="en-US" dirty="0"/>
              <a:t>– 𐑤𐑪𐑕𐑑 (lost), 𐑯𐑪𐑑 (not), 𐑢𐑪𐑟 (was)</a:t>
            </a:r>
          </a:p>
          <a:p>
            <a:r>
              <a:rPr lang="en-US" dirty="0">
                <a:latin typeface="+mj-lt"/>
              </a:rPr>
              <a:t>𐑰</a:t>
            </a:r>
            <a:r>
              <a:rPr lang="en-US" dirty="0"/>
              <a:t> </a:t>
            </a:r>
            <a:r>
              <a:rPr lang="en-US" i="1" dirty="0"/>
              <a:t>eat </a:t>
            </a:r>
            <a:r>
              <a:rPr lang="en-US" dirty="0"/>
              <a:t>– 𐑥𐑰 (me), 𐑮𐑰𐑛 (read), 𐑞𐑰𐑟 (these)</a:t>
            </a:r>
          </a:p>
          <a:p>
            <a:r>
              <a:rPr lang="en-US" dirty="0">
                <a:latin typeface="+mj-lt"/>
              </a:rPr>
              <a:t>𐑴</a:t>
            </a:r>
            <a:r>
              <a:rPr lang="en-US" dirty="0"/>
              <a:t> </a:t>
            </a:r>
            <a:r>
              <a:rPr lang="en-US" i="1" dirty="0"/>
              <a:t>oak</a:t>
            </a:r>
            <a:r>
              <a:rPr lang="en-US" dirty="0"/>
              <a:t> – 𐑛𐑴𐑯𐑑 (don’t), 𐑯𐑴 (know)</a:t>
            </a:r>
          </a:p>
          <a:p>
            <a:r>
              <a:rPr lang="en-US" dirty="0">
                <a:latin typeface="+mj-lt"/>
              </a:rPr>
              <a:t>𐑨</a:t>
            </a:r>
            <a:r>
              <a:rPr lang="en-US" dirty="0"/>
              <a:t> </a:t>
            </a:r>
            <a:r>
              <a:rPr lang="en-US" i="1" dirty="0"/>
              <a:t>ash</a:t>
            </a:r>
            <a:r>
              <a:rPr lang="en-US" dirty="0"/>
              <a:t> – 𐑨𐑥 (am), 𐑒𐑨𐑯 (can), 𐑞𐑨𐑑 (that)</a:t>
            </a:r>
          </a:p>
        </p:txBody>
      </p:sp>
    </p:spTree>
    <p:extLst>
      <p:ext uri="{BB962C8B-B14F-4D97-AF65-F5344CB8AC3E}">
        <p14:creationId xmlns:p14="http://schemas.microsoft.com/office/powerpoint/2010/main" val="896011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𐑓 – </a:t>
            </a:r>
            <a:r>
              <a:rPr lang="en-US" b="1" u="sng" dirty="0"/>
              <a:t>f</a:t>
            </a:r>
            <a:r>
              <a:rPr lang="en-US" dirty="0"/>
              <a:t>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enough → 𐑦𐑯𐑳𐑓 </a:t>
            </a:r>
          </a:p>
          <a:p>
            <a:pPr algn="ctr" rtl="0"/>
            <a:r>
              <a:rPr lang="en-US" dirty="0"/>
              <a:t>first → 𐑓𐑻𐑕𐑑 </a:t>
            </a:r>
          </a:p>
          <a:p>
            <a:pPr algn="ctr" rtl="0"/>
            <a:r>
              <a:rPr lang="en-US" dirty="0"/>
              <a:t>from → 𐑓𐑮𐑪𐑥</a:t>
            </a:r>
          </a:p>
          <a:p>
            <a:pPr algn="ctr" rtl="0"/>
            <a:r>
              <a:rPr lang="en-US" dirty="0"/>
              <a:t>if → 𐑦𐑓</a:t>
            </a:r>
          </a:p>
          <a:p>
            <a:pPr algn="ctr" rtl="0"/>
            <a:r>
              <a:rPr lang="en-US" dirty="0"/>
              <a:t>off → 𐑪𐑓</a:t>
            </a:r>
          </a:p>
          <a:p>
            <a:pPr algn="ctr" rtl="0"/>
            <a:r>
              <a:rPr lang="en-US" dirty="0"/>
              <a:t>often → 𐑪𐑓𐑩𐑯, 𐑪𐑓𐑑𐑩𐑯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71CD4-0D02-D0F9-0927-D5E017D6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88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𐑲 – </a:t>
            </a:r>
            <a:r>
              <a:rPr lang="en-US" b="1" u="sng" dirty="0"/>
              <a:t>i</a:t>
            </a:r>
            <a:r>
              <a:rPr lang="en-US" dirty="0"/>
              <a:t>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4050820" cy="4114800"/>
          </a:xfrm>
        </p:spPr>
        <p:txBody>
          <a:bodyPr anchor="t"/>
          <a:lstStyle/>
          <a:p>
            <a:r>
              <a:rPr lang="en-US" dirty="0"/>
              <a:t>either → 𐑲𐑞𐑼, 𐑰𐑞𐑼</a:t>
            </a:r>
          </a:p>
          <a:p>
            <a:pPr rtl="0"/>
            <a:r>
              <a:rPr lang="en-US" dirty="0"/>
              <a:t>I → 𐑲</a:t>
            </a:r>
          </a:p>
          <a:p>
            <a:pPr rtl="0"/>
            <a:r>
              <a:rPr lang="en-US" dirty="0"/>
              <a:t>like → 𐑤𐑲𐑒</a:t>
            </a:r>
          </a:p>
          <a:p>
            <a:pPr rtl="0"/>
            <a:r>
              <a:rPr lang="en-US" dirty="0"/>
              <a:t>might → 𐑥𐑲𐑑</a:t>
            </a:r>
          </a:p>
          <a:p>
            <a:pPr rtl="0"/>
            <a:r>
              <a:rPr lang="en-US" dirty="0"/>
              <a:t>my → 𐑥𐑲</a:t>
            </a:r>
          </a:p>
          <a:p>
            <a:pPr rtl="0"/>
            <a:r>
              <a:rPr lang="en-US" dirty="0"/>
              <a:t>quite → 𐑒𐑢𐑲𐑑</a:t>
            </a:r>
          </a:p>
          <a:p>
            <a:pPr rtl="0"/>
            <a:r>
              <a:rPr lang="en-US" dirty="0"/>
              <a:t>right → 𐑮𐑲𐑑</a:t>
            </a:r>
          </a:p>
          <a:p>
            <a:pPr rt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082" y="2044700"/>
            <a:ext cx="2776232" cy="4114800"/>
          </a:xfrm>
        </p:spPr>
        <p:txBody>
          <a:bodyPr anchor="t"/>
          <a:lstStyle/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r>
              <a:rPr lang="en-US" dirty="0"/>
              <a:t>time → 𐑑𐑲𐑥</a:t>
            </a:r>
          </a:p>
          <a:p>
            <a:pPr rtl="0"/>
            <a:r>
              <a:rPr lang="en-US" dirty="0"/>
              <a:t>while → 𐑢𐑲𐑤</a:t>
            </a:r>
          </a:p>
          <a:p>
            <a:pPr rtl="0"/>
            <a:r>
              <a:rPr lang="en-US" dirty="0"/>
              <a:t>why → 𐑢𐑲</a:t>
            </a:r>
          </a:p>
          <a:p>
            <a:pPr rtl="0"/>
            <a:r>
              <a:rPr lang="en-US" dirty="0"/>
              <a:t>write → 𐑮𐑲𐑑</a:t>
            </a:r>
          </a:p>
        </p:txBody>
      </p:sp>
    </p:spTree>
    <p:extLst>
      <p:ext uri="{BB962C8B-B14F-4D97-AF65-F5344CB8AC3E}">
        <p14:creationId xmlns:p14="http://schemas.microsoft.com/office/powerpoint/2010/main" val="3703018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𐑣 – </a:t>
            </a:r>
            <a:r>
              <a:rPr lang="en-US" b="1" u="sng" dirty="0" err="1"/>
              <a:t>h</a:t>
            </a:r>
            <a:r>
              <a:rPr lang="en-US" dirty="0" err="1"/>
              <a:t>aha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3675136" cy="4114800"/>
          </a:xfrm>
        </p:spPr>
        <p:txBody>
          <a:bodyPr anchor="t"/>
          <a:lstStyle/>
          <a:p>
            <a:r>
              <a:rPr lang="en-US" dirty="0"/>
              <a:t>had → 𐑣𐑨𐑛</a:t>
            </a:r>
          </a:p>
          <a:p>
            <a:pPr rtl="0"/>
            <a:r>
              <a:rPr lang="en-US" dirty="0"/>
              <a:t>has → 𐑣𐑨𐑟</a:t>
            </a:r>
          </a:p>
          <a:p>
            <a:pPr rtl="0"/>
            <a:r>
              <a:rPr lang="en-US" dirty="0"/>
              <a:t>he → 𐑣𐑰</a:t>
            </a:r>
          </a:p>
          <a:p>
            <a:pPr rtl="0"/>
            <a:r>
              <a:rPr lang="en-US" dirty="0"/>
              <a:t>her → 𐑣𐑻</a:t>
            </a:r>
          </a:p>
          <a:p>
            <a:pPr rtl="0"/>
            <a:r>
              <a:rPr lang="en-US" dirty="0"/>
              <a:t>here → 𐑣𐑽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234" y="2044700"/>
            <a:ext cx="2967079" cy="4114800"/>
          </a:xfrm>
        </p:spPr>
        <p:txBody>
          <a:bodyPr anchor="t"/>
          <a:lstStyle/>
          <a:p>
            <a:pPr rtl="0"/>
            <a:r>
              <a:rPr lang="en-US" dirty="0"/>
              <a:t>him → 𐑣𐑦𐑥</a:t>
            </a:r>
          </a:p>
          <a:p>
            <a:pPr rtl="0"/>
            <a:r>
              <a:rPr lang="en-US" dirty="0"/>
              <a:t>his → 𐑣𐑦𐑟</a:t>
            </a:r>
          </a:p>
          <a:p>
            <a:pPr rtl="0"/>
            <a:r>
              <a:rPr lang="en-US" dirty="0"/>
              <a:t>whole → 𐑣𐑴𐑤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77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𐑝 – </a:t>
            </a:r>
            <a:r>
              <a:rPr lang="en-US" b="1" u="sng" dirty="0"/>
              <a:t>v</a:t>
            </a:r>
            <a:r>
              <a:rPr lang="en-US" dirty="0"/>
              <a:t>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ever →  𐑧𐑝𐑼</a:t>
            </a:r>
          </a:p>
          <a:p>
            <a:pPr algn="ctr" rtl="0"/>
            <a:r>
              <a:rPr lang="en-US" dirty="0"/>
              <a:t>have → 𐑣𐑨𐑝</a:t>
            </a:r>
          </a:p>
          <a:p>
            <a:pPr algn="ctr" rtl="0"/>
            <a:r>
              <a:rPr lang="en-US" dirty="0"/>
              <a:t>love → 𐑤𐑳𐑝</a:t>
            </a:r>
          </a:p>
          <a:p>
            <a:pPr algn="ctr" rtl="0"/>
            <a:r>
              <a:rPr lang="en-US" dirty="0"/>
              <a:t>never → 𐑯𐑧𐑝𐑼</a:t>
            </a:r>
          </a:p>
          <a:p>
            <a:pPr algn="ctr" rtl="0"/>
            <a:r>
              <a:rPr lang="en-US" dirty="0"/>
              <a:t>of → 𐑝</a:t>
            </a:r>
          </a:p>
          <a:p>
            <a:pPr algn="ctr" rtl="0"/>
            <a:r>
              <a:rPr lang="en-US" dirty="0"/>
              <a:t>over → 𐑴𐑝𐑼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71CD4-0D02-D0F9-0927-D5E017D6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55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𐑚 – </a:t>
            </a:r>
            <a:r>
              <a:rPr lang="en-US" b="1" u="sng" dirty="0"/>
              <a:t>b</a:t>
            </a:r>
            <a:r>
              <a:rPr lang="en-US" dirty="0"/>
              <a:t>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be → 𐑚𐑰</a:t>
            </a:r>
          </a:p>
          <a:p>
            <a:pPr algn="ctr" rtl="0"/>
            <a:r>
              <a:rPr lang="en-US" dirty="0"/>
              <a:t>because → 𐑚𐑦𐑒𐑪𐑟 </a:t>
            </a:r>
          </a:p>
          <a:p>
            <a:pPr algn="ctr" rtl="0"/>
            <a:r>
              <a:rPr lang="en-US" dirty="0"/>
              <a:t>been → 𐑚𐑰𐑯</a:t>
            </a:r>
          </a:p>
          <a:p>
            <a:pPr algn="ctr" rtl="0"/>
            <a:r>
              <a:rPr lang="en-US" dirty="0"/>
              <a:t>between → 𐑚𐑦𐑑𐑢𐑰𐑯 </a:t>
            </a:r>
          </a:p>
          <a:p>
            <a:pPr algn="ctr" rtl="0"/>
            <a:r>
              <a:rPr lang="en-US" dirty="0"/>
              <a:t>business → 𐑚𐑦𐑟𐑯𐑩𐑕 </a:t>
            </a:r>
          </a:p>
          <a:p>
            <a:pPr algn="ctr" rtl="0"/>
            <a:r>
              <a:rPr lang="en-US" dirty="0"/>
              <a:t>but → 𐑚𐑳𐑑</a:t>
            </a:r>
          </a:p>
          <a:p>
            <a:pPr algn="ctr" rtl="0"/>
            <a:r>
              <a:rPr lang="en-US" dirty="0"/>
              <a:t>by → 𐑚𐑲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71CD4-0D02-D0F9-0927-D5E017D6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45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𐑫 – </a:t>
            </a:r>
            <a:r>
              <a:rPr lang="en-US" b="1" u="sng" dirty="0"/>
              <a:t>w</a:t>
            </a:r>
            <a:r>
              <a:rPr lang="en-US" b="1" dirty="0"/>
              <a:t>ool</a:t>
            </a:r>
            <a:r>
              <a:rPr lang="en-US" dirty="0"/>
              <a:t>     𐑵 – </a:t>
            </a:r>
            <a:r>
              <a:rPr lang="en-US" b="1" u="sng" dirty="0"/>
              <a:t>oo</a:t>
            </a:r>
            <a:r>
              <a:rPr lang="en-US" b="1" dirty="0"/>
              <a:t>ze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t"/>
          <a:lstStyle/>
          <a:p>
            <a:pPr rtl="0"/>
            <a:r>
              <a:rPr lang="en-US" dirty="0"/>
              <a:t>could→ 𐑒𐑫𐑛</a:t>
            </a:r>
          </a:p>
          <a:p>
            <a:pPr rtl="0"/>
            <a:r>
              <a:rPr lang="en-US" dirty="0"/>
              <a:t>look → 𐑤𐑫𐑒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032250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788554"/>
            <a:ext cx="6072324" cy="2650345"/>
          </a:xfrm>
        </p:spPr>
        <p:txBody>
          <a:bodyPr anchor="t"/>
          <a:lstStyle/>
          <a:p>
            <a:pPr rtl="0"/>
            <a:r>
              <a:rPr lang="en-US" dirty="0"/>
              <a:t>do → 𐑛𐑵</a:t>
            </a:r>
          </a:p>
          <a:p>
            <a:pPr rtl="0"/>
            <a:r>
              <a:rPr lang="en-US" dirty="0"/>
              <a:t>into → 𐑦𐑯𐑑𐑵</a:t>
            </a:r>
          </a:p>
          <a:p>
            <a:pPr rtl="0"/>
            <a:r>
              <a:rPr lang="en-US" dirty="0"/>
              <a:t>too → 𐑑𐑵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6FFAD9-74AD-A41D-6DE2-8120294A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116" y="3812978"/>
            <a:ext cx="3185884" cy="2650345"/>
          </a:xfrm>
        </p:spPr>
        <p:txBody>
          <a:bodyPr anchor="t"/>
          <a:lstStyle/>
          <a:p>
            <a:pPr rtl="0"/>
            <a:r>
              <a:rPr lang="en-US" dirty="0"/>
              <a:t>two → 𐑑𐑵</a:t>
            </a:r>
          </a:p>
          <a:p>
            <a:pPr rtl="0"/>
            <a:r>
              <a:rPr lang="en-US" dirty="0"/>
              <a:t>who → 𐑣𐑵</a:t>
            </a:r>
          </a:p>
          <a:p>
            <a:pPr rtl="0"/>
            <a:r>
              <a:rPr lang="en-US" dirty="0"/>
              <a:t>whose → 𐑣𐑵𐑟</a:t>
            </a:r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D4C7CD-4A27-EAE5-9000-8181EAC1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424" y="2103828"/>
            <a:ext cx="3404576" cy="1619316"/>
          </a:xfrm>
        </p:spPr>
        <p:txBody>
          <a:bodyPr anchor="t"/>
          <a:lstStyle/>
          <a:p>
            <a:pPr rtl="0"/>
            <a:r>
              <a:rPr lang="en-US" dirty="0"/>
              <a:t>woman→ 𐑢𐑫𐑥𐑩𐑯</a:t>
            </a:r>
          </a:p>
          <a:p>
            <a:pPr rtl="0"/>
            <a:r>
              <a:rPr lang="en-US" dirty="0"/>
              <a:t>would → 𐑢𐑫𐑛</a:t>
            </a:r>
          </a:p>
        </p:txBody>
      </p:sp>
    </p:spTree>
    <p:extLst>
      <p:ext uri="{BB962C8B-B14F-4D97-AF65-F5344CB8AC3E}">
        <p14:creationId xmlns:p14="http://schemas.microsoft.com/office/powerpoint/2010/main" val="2862373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𐑘 – </a:t>
            </a:r>
            <a:r>
              <a:rPr lang="en-US" b="1" u="sng" dirty="0"/>
              <a:t>y</a:t>
            </a:r>
            <a:r>
              <a:rPr lang="en-US" dirty="0"/>
              <a:t>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en-US" dirty="0"/>
              <a:t>year → 𐑘𐑽</a:t>
            </a:r>
          </a:p>
          <a:p>
            <a:pPr algn="ctr" rtl="0"/>
            <a:r>
              <a:rPr lang="en-US" dirty="0"/>
              <a:t>yesterday → 𐑘𐑧𐑕𐑑𐑼𐑛𐑱 </a:t>
            </a:r>
          </a:p>
          <a:p>
            <a:pPr algn="ctr" rtl="0"/>
            <a:r>
              <a:rPr lang="en-US" dirty="0"/>
              <a:t>yet → 𐑘𐑧𐑑</a:t>
            </a:r>
          </a:p>
          <a:p>
            <a:pPr algn="ctr" rtl="0"/>
            <a:r>
              <a:rPr lang="en-US" dirty="0"/>
              <a:t>your → 𐑘𐑫𐑼, 𐑘𐑹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71CD4-0D02-D0F9-0927-D5E017D6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13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38606028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𐑧</a:t>
            </a:r>
            <a:r>
              <a:rPr lang="en-US" dirty="0"/>
              <a:t> </a:t>
            </a:r>
            <a:r>
              <a:rPr lang="en-US" i="1" dirty="0"/>
              <a:t>egg</a:t>
            </a:r>
            <a:r>
              <a:rPr lang="en-US" dirty="0"/>
              <a:t> – 𐑥𐑧𐑯 (men), 𐑕𐑧𐑛 (said), 𐑢𐑧𐑤 (well)</a:t>
            </a:r>
          </a:p>
          <a:p>
            <a:r>
              <a:rPr lang="en-US" dirty="0">
                <a:latin typeface="+mj-lt"/>
              </a:rPr>
              <a:t>𐑩</a:t>
            </a:r>
            <a:r>
              <a:rPr lang="en-US" dirty="0"/>
              <a:t> </a:t>
            </a:r>
            <a:r>
              <a:rPr lang="en-US" i="1" dirty="0"/>
              <a:t>ado</a:t>
            </a:r>
            <a:r>
              <a:rPr lang="en-US" dirty="0"/>
              <a:t> – 𐑩 (a), 𐑛𐑦𐑛𐑩𐑯𐑑 (didn’t), 𐑤𐑦𐑑𐑩𐑤 (little)</a:t>
            </a:r>
          </a:p>
          <a:p>
            <a:r>
              <a:rPr lang="en-US" dirty="0">
                <a:latin typeface="+mj-lt"/>
              </a:rPr>
              <a:t>𐑳</a:t>
            </a:r>
            <a:r>
              <a:rPr lang="en-US" dirty="0"/>
              <a:t> </a:t>
            </a:r>
            <a:r>
              <a:rPr lang="en-US" i="1" dirty="0"/>
              <a:t>up</a:t>
            </a:r>
            <a:r>
              <a:rPr lang="en-US" dirty="0"/>
              <a:t> – 𐑛𐑳𐑯 (done), 𐑢𐑳𐑯 (one)</a:t>
            </a:r>
          </a:p>
          <a:p>
            <a:r>
              <a:rPr lang="en-US" dirty="0">
                <a:latin typeface="+mj-lt"/>
              </a:rPr>
              <a:t>𐑒 </a:t>
            </a:r>
            <a:r>
              <a:rPr lang="en-US" i="1" dirty="0"/>
              <a:t>kick</a:t>
            </a:r>
            <a:r>
              <a:rPr lang="en-US" dirty="0"/>
              <a:t> – 𐑒𐑳𐑥 (come), 𐑯𐑧𐑒𐑕𐑑 (next)</a:t>
            </a:r>
          </a:p>
          <a:p>
            <a:r>
              <a:rPr lang="en-US" dirty="0">
                <a:latin typeface="+mj-lt"/>
              </a:rPr>
              <a:t>𐑱</a:t>
            </a:r>
            <a:r>
              <a:rPr lang="en-US" dirty="0"/>
              <a:t> </a:t>
            </a:r>
            <a:r>
              <a:rPr lang="en-US" i="1" dirty="0"/>
              <a:t>age </a:t>
            </a:r>
            <a:r>
              <a:rPr lang="en-US" dirty="0"/>
              <a:t>– 𐑥𐑱𐑒 (make), 𐑑𐑩𐑛𐑱 (today)</a:t>
            </a:r>
          </a:p>
          <a:p>
            <a:r>
              <a:rPr lang="en-US" dirty="0">
                <a:latin typeface="+mj-lt"/>
              </a:rPr>
              <a:t>𐑮</a:t>
            </a:r>
            <a:r>
              <a:rPr lang="en-US" dirty="0"/>
              <a:t> </a:t>
            </a:r>
            <a:r>
              <a:rPr lang="en-US" i="1" dirty="0"/>
              <a:t>roar</a:t>
            </a:r>
            <a:r>
              <a:rPr lang="en-US" dirty="0"/>
              <a:t> – 𐑮𐑦𐑑𐑩𐑯 (written)</a:t>
            </a:r>
          </a:p>
          <a:p>
            <a:r>
              <a:rPr lang="en-US" dirty="0">
                <a:latin typeface="+mj-lt"/>
              </a:rPr>
              <a:t>𐑼</a:t>
            </a:r>
            <a:r>
              <a:rPr lang="en-US" dirty="0"/>
              <a:t> </a:t>
            </a:r>
            <a:r>
              <a:rPr lang="en-US" i="1" dirty="0"/>
              <a:t>array</a:t>
            </a:r>
            <a:r>
              <a:rPr lang="en-US" dirty="0"/>
              <a:t> – 𐑳𐑯𐑛𐑼 (under)</a:t>
            </a:r>
          </a:p>
          <a:p>
            <a:r>
              <a:rPr lang="en-US" dirty="0">
                <a:latin typeface="+mj-lt"/>
              </a:rPr>
              <a:t>𐑽</a:t>
            </a:r>
            <a:r>
              <a:rPr lang="en-US" dirty="0"/>
              <a:t> </a:t>
            </a:r>
            <a:r>
              <a:rPr lang="en-US" i="1" dirty="0"/>
              <a:t>ear</a:t>
            </a:r>
            <a:r>
              <a:rPr lang="en-US" dirty="0"/>
              <a:t> – 𐑛𐑽 (dear), 𐑯𐑽 (near)</a:t>
            </a:r>
          </a:p>
        </p:txBody>
      </p:sp>
    </p:spTree>
    <p:extLst>
      <p:ext uri="{BB962C8B-B14F-4D97-AF65-F5344CB8AC3E}">
        <p14:creationId xmlns:p14="http://schemas.microsoft.com/office/powerpoint/2010/main" val="4106949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𐑺</a:t>
            </a:r>
            <a:r>
              <a:rPr lang="en-US" dirty="0"/>
              <a:t> </a:t>
            </a:r>
            <a:r>
              <a:rPr lang="en-US" i="1" dirty="0"/>
              <a:t>air</a:t>
            </a:r>
            <a:r>
              <a:rPr lang="en-US" dirty="0"/>
              <a:t> – 𐑢𐑺 (where)</a:t>
            </a:r>
          </a:p>
          <a:p>
            <a:r>
              <a:rPr lang="en-US" dirty="0">
                <a:latin typeface="+mj-lt"/>
              </a:rPr>
              <a:t>𐑻</a:t>
            </a:r>
            <a:r>
              <a:rPr lang="en-US" dirty="0"/>
              <a:t> </a:t>
            </a:r>
            <a:r>
              <a:rPr lang="en-US" i="1" dirty="0"/>
              <a:t>err</a:t>
            </a:r>
            <a:r>
              <a:rPr lang="en-US" dirty="0"/>
              <a:t> – 𐑢𐑻 (were), 𐑢𐑻𐑤𐑛 (world)</a:t>
            </a:r>
          </a:p>
          <a:p>
            <a:r>
              <a:rPr lang="en-US" dirty="0">
                <a:latin typeface="+mj-lt"/>
              </a:rPr>
              <a:t>𐑞</a:t>
            </a:r>
            <a:r>
              <a:rPr lang="en-US" dirty="0"/>
              <a:t> </a:t>
            </a:r>
            <a:r>
              <a:rPr lang="en-US" i="1" dirty="0"/>
              <a:t>they</a:t>
            </a:r>
            <a:r>
              <a:rPr lang="en-US" dirty="0"/>
              <a:t> – 𐑳𐑞𐑼 (other), 𐑞𐑧𐑯 (then)</a:t>
            </a:r>
          </a:p>
          <a:p>
            <a:r>
              <a:rPr lang="en-US" dirty="0">
                <a:latin typeface="+mj-lt"/>
              </a:rPr>
              <a:t>𐑟 </a:t>
            </a:r>
            <a:r>
              <a:rPr lang="en-US" i="1" dirty="0"/>
              <a:t>zoo</a:t>
            </a:r>
            <a:r>
              <a:rPr lang="en-US" dirty="0"/>
              <a:t> – 𐑛𐑳𐑟 (does), 𐑦𐑟 (is), 𐑕𐑧𐑟 (says)</a:t>
            </a:r>
          </a:p>
          <a:p>
            <a:r>
              <a:rPr lang="en-US" dirty="0">
                <a:latin typeface="+mj-lt"/>
              </a:rPr>
              <a:t>𐑪</a:t>
            </a:r>
            <a:r>
              <a:rPr lang="en-US" dirty="0"/>
              <a:t> </a:t>
            </a:r>
            <a:r>
              <a:rPr lang="en-US" i="1" dirty="0"/>
              <a:t>on </a:t>
            </a:r>
            <a:r>
              <a:rPr lang="en-US" dirty="0"/>
              <a:t>– 𐑤𐑪𐑕𐑑 (lost), 𐑯𐑪𐑑 (not), 𐑢𐑪𐑟 (was)</a:t>
            </a:r>
          </a:p>
          <a:p>
            <a:r>
              <a:rPr lang="en-US" dirty="0">
                <a:latin typeface="+mj-lt"/>
              </a:rPr>
              <a:t>𐑰</a:t>
            </a:r>
            <a:r>
              <a:rPr lang="en-US" dirty="0"/>
              <a:t> </a:t>
            </a:r>
            <a:r>
              <a:rPr lang="en-US" i="1" dirty="0"/>
              <a:t>eat </a:t>
            </a:r>
            <a:r>
              <a:rPr lang="en-US" dirty="0"/>
              <a:t>– 𐑥𐑰 (me), 𐑮𐑰𐑛 (read), 𐑞𐑰𐑟 (these)</a:t>
            </a:r>
          </a:p>
          <a:p>
            <a:r>
              <a:rPr lang="en-US" dirty="0">
                <a:latin typeface="+mj-lt"/>
              </a:rPr>
              <a:t>𐑴</a:t>
            </a:r>
            <a:r>
              <a:rPr lang="en-US" dirty="0"/>
              <a:t> </a:t>
            </a:r>
            <a:r>
              <a:rPr lang="en-US" i="1" dirty="0"/>
              <a:t>oak</a:t>
            </a:r>
            <a:r>
              <a:rPr lang="en-US" dirty="0"/>
              <a:t> – 𐑛𐑴𐑯𐑑 (don’t), 𐑯𐑴 (know)</a:t>
            </a:r>
          </a:p>
          <a:p>
            <a:r>
              <a:rPr lang="en-US" dirty="0">
                <a:latin typeface="+mj-lt"/>
              </a:rPr>
              <a:t>𐑨</a:t>
            </a:r>
            <a:r>
              <a:rPr lang="en-US" dirty="0"/>
              <a:t> </a:t>
            </a:r>
            <a:r>
              <a:rPr lang="en-US" i="1" dirty="0"/>
              <a:t>ash</a:t>
            </a:r>
            <a:r>
              <a:rPr lang="en-US" dirty="0"/>
              <a:t> – 𐑨𐑥 (am), 𐑒𐑨𐑯 (can), 𐑞𐑨𐑑 (that)</a:t>
            </a:r>
          </a:p>
        </p:txBody>
      </p:sp>
    </p:spTree>
    <p:extLst>
      <p:ext uri="{BB962C8B-B14F-4D97-AF65-F5344CB8AC3E}">
        <p14:creationId xmlns:p14="http://schemas.microsoft.com/office/powerpoint/2010/main" val="18869281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𐑓</a:t>
            </a:r>
            <a:r>
              <a:rPr lang="en-US" dirty="0"/>
              <a:t> </a:t>
            </a:r>
            <a:r>
              <a:rPr lang="en-US" i="1" dirty="0"/>
              <a:t>fee</a:t>
            </a:r>
            <a:r>
              <a:rPr lang="en-US" dirty="0"/>
              <a:t> – 𐑦𐑯𐑳𐑓 (enough), 𐑓𐑻𐑕𐑑 (first)</a:t>
            </a:r>
          </a:p>
          <a:p>
            <a:r>
              <a:rPr lang="en-US" dirty="0">
                <a:latin typeface="+mj-lt"/>
              </a:rPr>
              <a:t>𐑲</a:t>
            </a:r>
            <a:r>
              <a:rPr lang="en-US" dirty="0"/>
              <a:t> </a:t>
            </a:r>
            <a:r>
              <a:rPr lang="en-US" i="1" dirty="0"/>
              <a:t>ice</a:t>
            </a:r>
            <a:r>
              <a:rPr lang="en-US" dirty="0"/>
              <a:t> – 𐑤𐑲𐑒 (like), 𐑢𐑲𐑤 (while)</a:t>
            </a:r>
          </a:p>
          <a:p>
            <a:r>
              <a:rPr lang="en-US" dirty="0">
                <a:latin typeface="+mj-lt"/>
              </a:rPr>
              <a:t>𐑣</a:t>
            </a:r>
            <a:r>
              <a:rPr lang="en-US" dirty="0"/>
              <a:t> </a:t>
            </a:r>
            <a:r>
              <a:rPr lang="en-US" i="1" dirty="0"/>
              <a:t>ha-ha</a:t>
            </a:r>
            <a:r>
              <a:rPr lang="en-US" dirty="0"/>
              <a:t> – 𐑣𐑨𐑟 (has), 𐑣𐑴𐑤 (whole)</a:t>
            </a:r>
          </a:p>
          <a:p>
            <a:r>
              <a:rPr lang="en-US" dirty="0">
                <a:latin typeface="+mj-lt"/>
              </a:rPr>
              <a:t>𐑝</a:t>
            </a:r>
            <a:r>
              <a:rPr lang="en-US" dirty="0"/>
              <a:t> </a:t>
            </a:r>
            <a:r>
              <a:rPr lang="en-US" i="1" dirty="0"/>
              <a:t>vow</a:t>
            </a:r>
            <a:r>
              <a:rPr lang="en-US" dirty="0"/>
              <a:t>  – 𐑧𐑝𐑼 (ever), 𐑣𐑨𐑝 (have)</a:t>
            </a:r>
          </a:p>
          <a:p>
            <a:r>
              <a:rPr lang="en-US" dirty="0">
                <a:latin typeface="+mj-lt"/>
              </a:rPr>
              <a:t>𐑚</a:t>
            </a:r>
            <a:r>
              <a:rPr lang="en-US" dirty="0"/>
              <a:t> </a:t>
            </a:r>
            <a:r>
              <a:rPr lang="en-US" i="1" dirty="0"/>
              <a:t>bib</a:t>
            </a:r>
            <a:r>
              <a:rPr lang="en-US" dirty="0"/>
              <a:t> – 𐑚𐑰 (be), 𐑚𐑦𐑒𐑪𐑟 (because)</a:t>
            </a:r>
          </a:p>
          <a:p>
            <a:r>
              <a:rPr lang="en-US" dirty="0">
                <a:latin typeface="+mj-lt"/>
              </a:rPr>
              <a:t>𐑫</a:t>
            </a:r>
            <a:r>
              <a:rPr lang="en-US" dirty="0"/>
              <a:t> </a:t>
            </a:r>
            <a:r>
              <a:rPr lang="en-US" i="1" dirty="0"/>
              <a:t>wool</a:t>
            </a:r>
            <a:r>
              <a:rPr lang="en-US" dirty="0"/>
              <a:t> – 𐑒𐑫𐑛 (could), 𐑤𐑫𐑒 (look)</a:t>
            </a:r>
          </a:p>
          <a:p>
            <a:r>
              <a:rPr lang="en-US" dirty="0">
                <a:latin typeface="+mj-lt"/>
              </a:rPr>
              <a:t>𐑵</a:t>
            </a:r>
            <a:r>
              <a:rPr lang="en-US" dirty="0"/>
              <a:t> </a:t>
            </a:r>
            <a:r>
              <a:rPr lang="en-US" i="1" dirty="0"/>
              <a:t>ooze</a:t>
            </a:r>
            <a:r>
              <a:rPr lang="en-US" dirty="0"/>
              <a:t> – 𐑛𐑵 (do), 𐑣𐑵 (who)</a:t>
            </a:r>
          </a:p>
          <a:p>
            <a:r>
              <a:rPr lang="en-US" dirty="0">
                <a:latin typeface="+mj-lt"/>
              </a:rPr>
              <a:t>𐑘</a:t>
            </a:r>
            <a:r>
              <a:rPr lang="en-US" dirty="0"/>
              <a:t> </a:t>
            </a:r>
            <a:r>
              <a:rPr lang="en-US" i="1" dirty="0"/>
              <a:t>yea</a:t>
            </a:r>
            <a:r>
              <a:rPr lang="en-US" dirty="0"/>
              <a:t> – 𐑘𐑽 (year), 𐑘𐑧𐑕𐑑𐑼𐑛𐑱 (yesterday)</a:t>
            </a:r>
          </a:p>
        </p:txBody>
      </p:sp>
    </p:spTree>
    <p:extLst>
      <p:ext uri="{BB962C8B-B14F-4D97-AF65-F5344CB8AC3E}">
        <p14:creationId xmlns:p14="http://schemas.microsoft.com/office/powerpoint/2010/main" val="4115259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𐑿 – </a:t>
            </a:r>
            <a:r>
              <a:rPr lang="en-US" u="sng" dirty="0"/>
              <a:t>yew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2" y="2044700"/>
            <a:ext cx="3675136" cy="4114800"/>
          </a:xfrm>
        </p:spPr>
        <p:txBody>
          <a:bodyPr anchor="t"/>
          <a:lstStyle/>
          <a:p>
            <a:r>
              <a:rPr lang="en-US" dirty="0"/>
              <a:t>few → 𐑓𐑿</a:t>
            </a:r>
          </a:p>
          <a:p>
            <a:pPr rtl="0"/>
            <a:r>
              <a:rPr lang="en-US" dirty="0"/>
              <a:t>knew → 𐑯𐑿</a:t>
            </a:r>
          </a:p>
          <a:p>
            <a:pPr rtl="0"/>
            <a:r>
              <a:rPr lang="en-US" dirty="0"/>
              <a:t>new →  𐑯𐑿, 𐑯𐑵</a:t>
            </a:r>
          </a:p>
          <a:p>
            <a:pPr rtl="0"/>
            <a:r>
              <a:rPr lang="en-US" dirty="0"/>
              <a:t>use (v.) → 𐑿𐑟</a:t>
            </a:r>
          </a:p>
          <a:p>
            <a:pPr rtl="0"/>
            <a:r>
              <a:rPr lang="en-US" dirty="0"/>
              <a:t>use (n.) → 𐑿𐑕</a:t>
            </a:r>
          </a:p>
          <a:p>
            <a:pPr rtl="0"/>
            <a:r>
              <a:rPr lang="en-US" dirty="0"/>
              <a:t>used → 𐑿𐑟𐑛</a:t>
            </a:r>
          </a:p>
          <a:p>
            <a:pPr rtl="0"/>
            <a:r>
              <a:rPr lang="en-US" dirty="0"/>
              <a:t>used to → 𐑿𐑕𐑑 𐑑</a:t>
            </a:r>
          </a:p>
          <a:p>
            <a:pPr rtl="0"/>
            <a:r>
              <a:rPr lang="en-US" dirty="0"/>
              <a:t>you → 𐑿</a:t>
            </a:r>
          </a:p>
          <a:p>
            <a:pPr marL="0" indent="0" rtl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41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𐑐 – </a:t>
            </a:r>
            <a:r>
              <a:rPr lang="en-US" b="1" u="sng" dirty="0"/>
              <a:t>p</a:t>
            </a:r>
            <a:r>
              <a:rPr lang="en-US" b="1" dirty="0"/>
              <a:t>eep</a:t>
            </a:r>
            <a:r>
              <a:rPr lang="en-US" dirty="0"/>
              <a:t>     𐑙 – hu</a:t>
            </a:r>
            <a:r>
              <a:rPr lang="en-US" b="1" u="sng" dirty="0"/>
              <a:t>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t"/>
          <a:lstStyle/>
          <a:p>
            <a:pPr rtl="0"/>
            <a:r>
              <a:rPr lang="en-US" dirty="0"/>
              <a:t>people → 𐑐𐑰𐑐𐑩𐑤</a:t>
            </a:r>
          </a:p>
          <a:p>
            <a:pPr rtl="0"/>
            <a:r>
              <a:rPr lang="en-US" dirty="0"/>
              <a:t>please → 𐑐𐑤𐑰𐑟</a:t>
            </a:r>
          </a:p>
          <a:p>
            <a:pPr rtl="0"/>
            <a:r>
              <a:rPr lang="en-US" dirty="0"/>
              <a:t>possible → 𐑐𐑪𐑕𐑩𐑚𐑩𐑤 </a:t>
            </a:r>
          </a:p>
          <a:p>
            <a:pPr rtl="0"/>
            <a:r>
              <a:rPr lang="en-US" dirty="0"/>
              <a:t>up → 𐑳𐑐</a:t>
            </a:r>
          </a:p>
          <a:p>
            <a:pPr rtl="0"/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521361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4390407"/>
            <a:ext cx="6072324" cy="2048492"/>
          </a:xfrm>
        </p:spPr>
        <p:txBody>
          <a:bodyPr anchor="t"/>
          <a:lstStyle/>
          <a:p>
            <a:r>
              <a:rPr lang="en-US" dirty="0"/>
              <a:t>during → 𐑛𐑘𐑫𐑮𐑦𐑙</a:t>
            </a:r>
          </a:p>
          <a:p>
            <a:pPr rtl="0"/>
            <a:r>
              <a:rPr lang="en-US" dirty="0"/>
              <a:t>long → 𐑤𐑪𐑙</a:t>
            </a:r>
          </a:p>
          <a:p>
            <a:pPr rtl="0"/>
            <a:r>
              <a:rPr lang="en-US" dirty="0"/>
              <a:t>wrong → 𐑮𐑪𐑙</a:t>
            </a:r>
          </a:p>
          <a:p>
            <a:pPr rtl="0"/>
            <a:r>
              <a:rPr lang="en-US" dirty="0"/>
              <a:t>young → 𐑘𐑳𐑙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27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𐑔 – </a:t>
            </a:r>
            <a:r>
              <a:rPr lang="en-US" u="sng" dirty="0"/>
              <a:t>th</a:t>
            </a:r>
            <a:r>
              <a:rPr lang="en-US" dirty="0"/>
              <a:t>igh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2" y="2044700"/>
            <a:ext cx="4656968" cy="4114800"/>
          </a:xfrm>
        </p:spPr>
        <p:txBody>
          <a:bodyPr anchor="t"/>
          <a:lstStyle/>
          <a:p>
            <a:r>
              <a:rPr lang="en-US" dirty="0"/>
              <a:t>faithfully → 𐑓𐑱𐑔𐑓𐑩𐑤𐑦</a:t>
            </a:r>
          </a:p>
          <a:p>
            <a:pPr rtl="0"/>
            <a:r>
              <a:rPr lang="en-US" dirty="0"/>
              <a:t>nothing → 𐑯𐑳𐑔𐑦𐑙</a:t>
            </a:r>
          </a:p>
          <a:p>
            <a:pPr rtl="0"/>
            <a:r>
              <a:rPr lang="en-US" dirty="0"/>
              <a:t>something → 𐑕𐑳𐑥𐑔𐑦𐑙</a:t>
            </a:r>
          </a:p>
          <a:p>
            <a:pPr rtl="0"/>
            <a:r>
              <a:rPr lang="en-US" dirty="0"/>
              <a:t>thank → 𐑔𐑨𐑙𐑒</a:t>
            </a:r>
          </a:p>
          <a:p>
            <a:pPr rtl="0"/>
            <a:r>
              <a:rPr lang="en-US" dirty="0"/>
              <a:t>thing → 𐑔𐑦𐑙</a:t>
            </a:r>
          </a:p>
          <a:p>
            <a:pPr rtl="0"/>
            <a:r>
              <a:rPr lang="en-US" dirty="0"/>
              <a:t>think → 𐑔𐑦𐑙𐑒</a:t>
            </a:r>
          </a:p>
          <a:p>
            <a:pPr rtl="0"/>
            <a:r>
              <a:rPr lang="en-US" dirty="0"/>
              <a:t>three → 𐑔𐑮𐑰</a:t>
            </a:r>
          </a:p>
          <a:p>
            <a:pPr rtl="0"/>
            <a:r>
              <a:rPr lang="en-US" dirty="0"/>
              <a:t>through → 𐑔𐑮𐑵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291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𐑜 – </a:t>
            </a:r>
            <a:r>
              <a:rPr lang="en-US" u="sng" dirty="0"/>
              <a:t>g</a:t>
            </a:r>
            <a:r>
              <a:rPr lang="en-US" dirty="0"/>
              <a:t>ag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1" y="2044700"/>
            <a:ext cx="5276105" cy="4114800"/>
          </a:xfrm>
        </p:spPr>
        <p:txBody>
          <a:bodyPr anchor="t"/>
          <a:lstStyle/>
          <a:p>
            <a:r>
              <a:rPr lang="en-US" dirty="0"/>
              <a:t>again → 𐑩𐑜𐑱𐑯, 𐑩𐑜𐑧𐑯</a:t>
            </a:r>
          </a:p>
          <a:p>
            <a:pPr rtl="0"/>
            <a:r>
              <a:rPr lang="en-US" dirty="0"/>
              <a:t>against → 𐑩𐑜𐑱𐑯𐑕𐑑, 𐑩𐑜𐑧𐑯𐑕𐑑</a:t>
            </a:r>
          </a:p>
          <a:p>
            <a:pPr rtl="0"/>
            <a:r>
              <a:rPr lang="en-US" dirty="0"/>
              <a:t>give → 𐑜𐑦𐑝</a:t>
            </a:r>
          </a:p>
          <a:p>
            <a:pPr rtl="0"/>
            <a:r>
              <a:rPr lang="en-US" dirty="0"/>
              <a:t>go → 𐑜𐑴</a:t>
            </a:r>
          </a:p>
          <a:p>
            <a:pPr rtl="0"/>
            <a:r>
              <a:rPr lang="en-US" dirty="0"/>
              <a:t>good → 𐑜𐑫𐑛</a:t>
            </a:r>
          </a:p>
          <a:p>
            <a:pPr rtl="0"/>
            <a:r>
              <a:rPr lang="en-US" dirty="0"/>
              <a:t>got → 𐑜𐑪𐑑</a:t>
            </a:r>
          </a:p>
          <a:p>
            <a:pPr rtl="0"/>
            <a:r>
              <a:rPr lang="en-US" dirty="0"/>
              <a:t>great → 𐑜𐑮𐑱𐑑</a:t>
            </a:r>
          </a:p>
          <a:p>
            <a:pPr rtl="0"/>
            <a:r>
              <a:rPr lang="en-US" dirty="0"/>
              <a:t>together → 𐑑𐑩𐑜𐑧𐑞𐑼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69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𐑷 – </a:t>
            </a:r>
            <a:r>
              <a:rPr lang="en-US" b="1" u="sng" dirty="0"/>
              <a:t>aw</a:t>
            </a:r>
            <a:r>
              <a:rPr lang="en-US" b="1" dirty="0"/>
              <a:t>e</a:t>
            </a:r>
            <a:r>
              <a:rPr lang="en-US" dirty="0"/>
              <a:t>     𐑹 – </a:t>
            </a:r>
            <a:r>
              <a:rPr lang="en-US" b="1" u="sng" dirty="0"/>
              <a:t>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2588822"/>
          </a:xfrm>
        </p:spPr>
        <p:txBody>
          <a:bodyPr anchor="t"/>
          <a:lstStyle/>
          <a:p>
            <a:pPr rtl="0"/>
            <a:r>
              <a:rPr lang="en-US" dirty="0"/>
              <a:t>all → 𐑷𐑤</a:t>
            </a:r>
          </a:p>
          <a:p>
            <a:pPr rtl="0"/>
            <a:r>
              <a:rPr lang="en-US" dirty="0"/>
              <a:t>also → 𐑷𐑤𐑕𐑴</a:t>
            </a:r>
          </a:p>
          <a:p>
            <a:pPr rtl="0"/>
            <a:r>
              <a:rPr lang="en-US" dirty="0"/>
              <a:t>although → 𐑷𐑤𐑞𐑴</a:t>
            </a:r>
          </a:p>
          <a:p>
            <a:pPr rtl="0"/>
            <a:r>
              <a:rPr lang="en-US" dirty="0"/>
              <a:t>always → 𐑷𐑤𐑢𐑱𐑟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692650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4692650"/>
            <a:ext cx="6072324" cy="2165350"/>
          </a:xfrm>
        </p:spPr>
        <p:txBody>
          <a:bodyPr anchor="t"/>
          <a:lstStyle/>
          <a:p>
            <a:pPr rtl="0"/>
            <a:r>
              <a:rPr lang="en-US" dirty="0"/>
              <a:t>before → 𐑚𐑦𐑓𐑹</a:t>
            </a:r>
          </a:p>
          <a:p>
            <a:pPr rtl="0"/>
            <a:r>
              <a:rPr lang="en-US" dirty="0"/>
              <a:t>for → 𐑓𐑹 [𐑓]</a:t>
            </a:r>
          </a:p>
          <a:p>
            <a:pPr rtl="0"/>
            <a:r>
              <a:rPr lang="en-US" dirty="0"/>
              <a:t>more → 𐑥𐑹</a:t>
            </a:r>
          </a:p>
          <a:p>
            <a:pPr rtl="0"/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6FFAD9-74AD-A41D-6DE2-8120294A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498" y="4692650"/>
            <a:ext cx="2686501" cy="2224478"/>
          </a:xfrm>
        </p:spPr>
        <p:txBody>
          <a:bodyPr anchor="t"/>
          <a:lstStyle/>
          <a:p>
            <a:pPr rtl="0"/>
            <a:r>
              <a:rPr lang="en-US" dirty="0"/>
              <a:t>or → 𐑹</a:t>
            </a:r>
          </a:p>
          <a:p>
            <a:pPr rtl="0"/>
            <a:r>
              <a:rPr lang="en-US" dirty="0"/>
              <a:t>war 𐑢𐑹</a:t>
            </a:r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D4C7CD-4A27-EAE5-9000-8181EAC1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424" y="2103828"/>
            <a:ext cx="3404576" cy="1928422"/>
          </a:xfrm>
        </p:spPr>
        <p:txBody>
          <a:bodyPr anchor="t"/>
          <a:lstStyle/>
          <a:p>
            <a:pPr rtl="0"/>
            <a:r>
              <a:rPr lang="en-US" dirty="0"/>
              <a:t>talk → 𐑑𐑷𐑒</a:t>
            </a:r>
          </a:p>
          <a:p>
            <a:pPr rtl="0"/>
            <a:r>
              <a:rPr lang="en-US" dirty="0"/>
              <a:t>thought → 𐑔𐑷𐑑</a:t>
            </a:r>
          </a:p>
          <a:p>
            <a:pPr rtl="0"/>
            <a:endParaRPr lang="en-US" dirty="0"/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49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𐑭 – </a:t>
            </a:r>
            <a:r>
              <a:rPr lang="en-US" u="sng" dirty="0"/>
              <a:t>a</a:t>
            </a:r>
            <a:r>
              <a:rPr lang="en-US" dirty="0"/>
              <a:t>h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2" y="2044700"/>
            <a:ext cx="4656968" cy="4114800"/>
          </a:xfrm>
        </p:spPr>
        <p:txBody>
          <a:bodyPr anchor="t"/>
          <a:lstStyle/>
          <a:p>
            <a:r>
              <a:rPr lang="en-US" dirty="0"/>
              <a:t>after → 𐑭𐑓𐑑𐑼, 𐑨𐑓𐑑𐑼</a:t>
            </a:r>
          </a:p>
          <a:p>
            <a:pPr rtl="0"/>
            <a:r>
              <a:rPr lang="en-US" dirty="0"/>
              <a:t>can't → 𐑒𐑭𐑯𐑑</a:t>
            </a:r>
          </a:p>
          <a:p>
            <a:pPr rtl="0"/>
            <a:r>
              <a:rPr lang="en-US" dirty="0"/>
              <a:t>last → 𐑤𐑭𐑕𐑑, 𐑤𐑨𐑕𐑑</a:t>
            </a:r>
          </a:p>
          <a:p>
            <a:pPr rtl="0"/>
            <a:r>
              <a:rPr lang="en-US" dirty="0"/>
              <a:t>pass → 𐑐𐑭𐑕, 𐑐𐑨𐑕</a:t>
            </a:r>
          </a:p>
          <a:p>
            <a:pPr rtl="0"/>
            <a:r>
              <a:rPr lang="en-US" dirty="0"/>
              <a:t>past → 𐑐𐑭𐑕𐑑, 𐑐𐑨𐑕𐑑</a:t>
            </a:r>
          </a:p>
          <a:p>
            <a:pPr rtl="0"/>
            <a:r>
              <a:rPr lang="en-US" dirty="0"/>
              <a:t>rather → 𐑮𐑭𐑞𐑼</a:t>
            </a:r>
          </a:p>
          <a:p>
            <a:pPr marL="0" indent="0" rtl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11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5539969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𐑧</a:t>
            </a:r>
            <a:r>
              <a:rPr lang="en-US" dirty="0"/>
              <a:t> </a:t>
            </a:r>
            <a:r>
              <a:rPr lang="en-US" i="1" dirty="0"/>
              <a:t>egg</a:t>
            </a:r>
            <a:r>
              <a:rPr lang="en-US" dirty="0"/>
              <a:t> – 𐑥𐑧𐑯 (men), 𐑕𐑧𐑛 (said), 𐑢𐑧𐑤 (well)</a:t>
            </a:r>
          </a:p>
          <a:p>
            <a:r>
              <a:rPr lang="en-US" dirty="0">
                <a:latin typeface="+mj-lt"/>
              </a:rPr>
              <a:t>𐑩</a:t>
            </a:r>
            <a:r>
              <a:rPr lang="en-US" dirty="0"/>
              <a:t> </a:t>
            </a:r>
            <a:r>
              <a:rPr lang="en-US" i="1" dirty="0"/>
              <a:t>ado</a:t>
            </a:r>
            <a:r>
              <a:rPr lang="en-US" dirty="0"/>
              <a:t> – 𐑩 (a), 𐑛𐑦𐑛𐑩𐑯𐑑 (didn’t), 𐑤𐑦𐑑𐑩𐑤 (little)</a:t>
            </a:r>
          </a:p>
          <a:p>
            <a:r>
              <a:rPr lang="en-US" dirty="0">
                <a:latin typeface="+mj-lt"/>
              </a:rPr>
              <a:t>𐑳</a:t>
            </a:r>
            <a:r>
              <a:rPr lang="en-US" dirty="0"/>
              <a:t> </a:t>
            </a:r>
            <a:r>
              <a:rPr lang="en-US" i="1" dirty="0"/>
              <a:t>up</a:t>
            </a:r>
            <a:r>
              <a:rPr lang="en-US" dirty="0"/>
              <a:t> – 𐑛𐑳𐑯 (done), 𐑢𐑳𐑯 (one)</a:t>
            </a:r>
          </a:p>
          <a:p>
            <a:r>
              <a:rPr lang="en-US" dirty="0">
                <a:latin typeface="+mj-lt"/>
              </a:rPr>
              <a:t>𐑒 </a:t>
            </a:r>
            <a:r>
              <a:rPr lang="en-US" i="1" dirty="0"/>
              <a:t>kick</a:t>
            </a:r>
            <a:r>
              <a:rPr lang="en-US" dirty="0"/>
              <a:t> – 𐑒𐑳𐑥 (come), 𐑯𐑧𐑒𐑕𐑑 (next)</a:t>
            </a:r>
          </a:p>
          <a:p>
            <a:r>
              <a:rPr lang="en-US" dirty="0">
                <a:latin typeface="+mj-lt"/>
              </a:rPr>
              <a:t>𐑱</a:t>
            </a:r>
            <a:r>
              <a:rPr lang="en-US" dirty="0"/>
              <a:t> </a:t>
            </a:r>
            <a:r>
              <a:rPr lang="en-US" i="1" dirty="0"/>
              <a:t>age </a:t>
            </a:r>
            <a:r>
              <a:rPr lang="en-US" dirty="0"/>
              <a:t>– 𐑥𐑱𐑒 (make), 𐑑𐑩𐑛𐑱 (today)</a:t>
            </a:r>
          </a:p>
          <a:p>
            <a:r>
              <a:rPr lang="en-US" dirty="0">
                <a:latin typeface="+mj-lt"/>
              </a:rPr>
              <a:t>𐑮</a:t>
            </a:r>
            <a:r>
              <a:rPr lang="en-US" dirty="0"/>
              <a:t> </a:t>
            </a:r>
            <a:r>
              <a:rPr lang="en-US" i="1" dirty="0"/>
              <a:t>roar</a:t>
            </a:r>
            <a:r>
              <a:rPr lang="en-US" dirty="0"/>
              <a:t> – 𐑮𐑦𐑑𐑩𐑯 (written)</a:t>
            </a:r>
          </a:p>
          <a:p>
            <a:r>
              <a:rPr lang="en-US" dirty="0">
                <a:latin typeface="+mj-lt"/>
              </a:rPr>
              <a:t>𐑼</a:t>
            </a:r>
            <a:r>
              <a:rPr lang="en-US" dirty="0"/>
              <a:t> </a:t>
            </a:r>
            <a:r>
              <a:rPr lang="en-US" i="1" dirty="0"/>
              <a:t>array</a:t>
            </a:r>
            <a:r>
              <a:rPr lang="en-US" dirty="0"/>
              <a:t> – 𐑳𐑯𐑛𐑼 (under)</a:t>
            </a:r>
          </a:p>
          <a:p>
            <a:r>
              <a:rPr lang="en-US" dirty="0">
                <a:latin typeface="+mj-lt"/>
              </a:rPr>
              <a:t>𐑽</a:t>
            </a:r>
            <a:r>
              <a:rPr lang="en-US" dirty="0"/>
              <a:t> </a:t>
            </a:r>
            <a:r>
              <a:rPr lang="en-US" i="1" dirty="0"/>
              <a:t>ear</a:t>
            </a:r>
            <a:r>
              <a:rPr lang="en-US" dirty="0"/>
              <a:t> – 𐑛𐑽 (dear), 𐑯𐑽 (near)</a:t>
            </a:r>
          </a:p>
        </p:txBody>
      </p:sp>
    </p:spTree>
    <p:extLst>
      <p:ext uri="{BB962C8B-B14F-4D97-AF65-F5344CB8AC3E}">
        <p14:creationId xmlns:p14="http://schemas.microsoft.com/office/powerpoint/2010/main" val="37162971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𐑺</a:t>
            </a:r>
            <a:r>
              <a:rPr lang="en-US" dirty="0"/>
              <a:t> </a:t>
            </a:r>
            <a:r>
              <a:rPr lang="en-US" i="1" dirty="0"/>
              <a:t>air</a:t>
            </a:r>
            <a:r>
              <a:rPr lang="en-US" dirty="0"/>
              <a:t> – 𐑢𐑺 (where)</a:t>
            </a:r>
          </a:p>
          <a:p>
            <a:r>
              <a:rPr lang="en-US" dirty="0">
                <a:latin typeface="+mj-lt"/>
              </a:rPr>
              <a:t>𐑻</a:t>
            </a:r>
            <a:r>
              <a:rPr lang="en-US" dirty="0"/>
              <a:t> </a:t>
            </a:r>
            <a:r>
              <a:rPr lang="en-US" i="1" dirty="0"/>
              <a:t>err</a:t>
            </a:r>
            <a:r>
              <a:rPr lang="en-US" dirty="0"/>
              <a:t> – 𐑢𐑻 (were), 𐑢𐑻𐑤𐑛 (world)</a:t>
            </a:r>
          </a:p>
          <a:p>
            <a:r>
              <a:rPr lang="en-US" dirty="0">
                <a:latin typeface="+mj-lt"/>
              </a:rPr>
              <a:t>𐑞</a:t>
            </a:r>
            <a:r>
              <a:rPr lang="en-US" dirty="0"/>
              <a:t> </a:t>
            </a:r>
            <a:r>
              <a:rPr lang="en-US" i="1" dirty="0"/>
              <a:t>they</a:t>
            </a:r>
            <a:r>
              <a:rPr lang="en-US" dirty="0"/>
              <a:t> – 𐑳𐑞𐑼 (other), 𐑞𐑧𐑯 (then)</a:t>
            </a:r>
          </a:p>
          <a:p>
            <a:r>
              <a:rPr lang="en-US" dirty="0">
                <a:latin typeface="+mj-lt"/>
              </a:rPr>
              <a:t>𐑟 </a:t>
            </a:r>
            <a:r>
              <a:rPr lang="en-US" i="1" dirty="0"/>
              <a:t>zoo</a:t>
            </a:r>
            <a:r>
              <a:rPr lang="en-US" dirty="0"/>
              <a:t> – 𐑛𐑳𐑟 (does), 𐑦𐑟 (is), 𐑕𐑧𐑟 (says)</a:t>
            </a:r>
          </a:p>
          <a:p>
            <a:r>
              <a:rPr lang="en-US" dirty="0">
                <a:latin typeface="+mj-lt"/>
              </a:rPr>
              <a:t>𐑪</a:t>
            </a:r>
            <a:r>
              <a:rPr lang="en-US" dirty="0"/>
              <a:t> </a:t>
            </a:r>
            <a:r>
              <a:rPr lang="en-US" i="1" dirty="0"/>
              <a:t>on </a:t>
            </a:r>
            <a:r>
              <a:rPr lang="en-US" dirty="0"/>
              <a:t>– 𐑤𐑪𐑕𐑑 (lost), 𐑯𐑪𐑑 (not), 𐑢𐑪𐑟 (was)</a:t>
            </a:r>
          </a:p>
          <a:p>
            <a:r>
              <a:rPr lang="en-US" dirty="0">
                <a:latin typeface="+mj-lt"/>
              </a:rPr>
              <a:t>𐑰</a:t>
            </a:r>
            <a:r>
              <a:rPr lang="en-US" dirty="0"/>
              <a:t> </a:t>
            </a:r>
            <a:r>
              <a:rPr lang="en-US" i="1" dirty="0"/>
              <a:t>eat </a:t>
            </a:r>
            <a:r>
              <a:rPr lang="en-US" dirty="0"/>
              <a:t>– 𐑥𐑰 (me), 𐑮𐑰𐑛 (read), 𐑞𐑰𐑟 (these)</a:t>
            </a:r>
          </a:p>
          <a:p>
            <a:r>
              <a:rPr lang="en-US" dirty="0">
                <a:latin typeface="+mj-lt"/>
              </a:rPr>
              <a:t>𐑴</a:t>
            </a:r>
            <a:r>
              <a:rPr lang="en-US" dirty="0"/>
              <a:t> </a:t>
            </a:r>
            <a:r>
              <a:rPr lang="en-US" i="1" dirty="0"/>
              <a:t>oak</a:t>
            </a:r>
            <a:r>
              <a:rPr lang="en-US" dirty="0"/>
              <a:t> – 𐑛𐑴𐑯𐑑 (don’t), 𐑯𐑴 (know)</a:t>
            </a:r>
          </a:p>
          <a:p>
            <a:r>
              <a:rPr lang="en-US" dirty="0">
                <a:latin typeface="+mj-lt"/>
              </a:rPr>
              <a:t>𐑨</a:t>
            </a:r>
            <a:r>
              <a:rPr lang="en-US" dirty="0"/>
              <a:t> </a:t>
            </a:r>
            <a:r>
              <a:rPr lang="en-US" i="1" dirty="0"/>
              <a:t>ash</a:t>
            </a:r>
            <a:r>
              <a:rPr lang="en-US" dirty="0"/>
              <a:t> – 𐑨𐑥 (am), 𐑒𐑨𐑯 (can), 𐑞𐑨𐑑 (that)</a:t>
            </a:r>
          </a:p>
        </p:txBody>
      </p:sp>
    </p:spTree>
    <p:extLst>
      <p:ext uri="{BB962C8B-B14F-4D97-AF65-F5344CB8AC3E}">
        <p14:creationId xmlns:p14="http://schemas.microsoft.com/office/powerpoint/2010/main" val="1558942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𐑓</a:t>
            </a:r>
            <a:r>
              <a:rPr lang="en-US" dirty="0"/>
              <a:t> </a:t>
            </a:r>
            <a:r>
              <a:rPr lang="en-US" i="1" dirty="0"/>
              <a:t>fee</a:t>
            </a:r>
            <a:r>
              <a:rPr lang="en-US" dirty="0"/>
              <a:t> – 𐑦𐑯𐑳𐑓 (enough), 𐑓𐑻𐑕𐑑 (first)</a:t>
            </a:r>
          </a:p>
          <a:p>
            <a:r>
              <a:rPr lang="en-US" dirty="0">
                <a:latin typeface="+mj-lt"/>
              </a:rPr>
              <a:t>𐑲</a:t>
            </a:r>
            <a:r>
              <a:rPr lang="en-US" dirty="0"/>
              <a:t> </a:t>
            </a:r>
            <a:r>
              <a:rPr lang="en-US" i="1" dirty="0"/>
              <a:t>ice</a:t>
            </a:r>
            <a:r>
              <a:rPr lang="en-US" dirty="0"/>
              <a:t> – 𐑤𐑲𐑒 (like), 𐑢𐑲𐑤 (while)</a:t>
            </a:r>
          </a:p>
          <a:p>
            <a:r>
              <a:rPr lang="en-US" dirty="0">
                <a:latin typeface="+mj-lt"/>
              </a:rPr>
              <a:t>𐑣</a:t>
            </a:r>
            <a:r>
              <a:rPr lang="en-US" dirty="0"/>
              <a:t> </a:t>
            </a:r>
            <a:r>
              <a:rPr lang="en-US" i="1" dirty="0"/>
              <a:t>ha-ha</a:t>
            </a:r>
            <a:r>
              <a:rPr lang="en-US" dirty="0"/>
              <a:t> – 𐑣𐑨𐑟 (has), 𐑣𐑴𐑤 (whole)</a:t>
            </a:r>
          </a:p>
          <a:p>
            <a:r>
              <a:rPr lang="en-US" dirty="0">
                <a:latin typeface="+mj-lt"/>
              </a:rPr>
              <a:t>𐑝</a:t>
            </a:r>
            <a:r>
              <a:rPr lang="en-US" dirty="0"/>
              <a:t> </a:t>
            </a:r>
            <a:r>
              <a:rPr lang="en-US" i="1" dirty="0"/>
              <a:t>vow</a:t>
            </a:r>
            <a:r>
              <a:rPr lang="en-US" dirty="0"/>
              <a:t>  – 𐑧𐑝𐑼 (ever), 𐑣𐑨𐑝 (have)</a:t>
            </a:r>
          </a:p>
          <a:p>
            <a:r>
              <a:rPr lang="en-US" dirty="0">
                <a:latin typeface="+mj-lt"/>
              </a:rPr>
              <a:t>𐑚</a:t>
            </a:r>
            <a:r>
              <a:rPr lang="en-US" dirty="0"/>
              <a:t> </a:t>
            </a:r>
            <a:r>
              <a:rPr lang="en-US" i="1" dirty="0"/>
              <a:t>bib</a:t>
            </a:r>
            <a:r>
              <a:rPr lang="en-US" dirty="0"/>
              <a:t> – 𐑚𐑰 (be), 𐑚𐑦𐑒𐑪𐑟 (because)</a:t>
            </a:r>
          </a:p>
          <a:p>
            <a:r>
              <a:rPr lang="en-US" dirty="0">
                <a:latin typeface="+mj-lt"/>
              </a:rPr>
              <a:t>𐑫</a:t>
            </a:r>
            <a:r>
              <a:rPr lang="en-US" dirty="0"/>
              <a:t> </a:t>
            </a:r>
            <a:r>
              <a:rPr lang="en-US" i="1" dirty="0"/>
              <a:t>wool</a:t>
            </a:r>
            <a:r>
              <a:rPr lang="en-US" dirty="0"/>
              <a:t> – 𐑒𐑫𐑛 (could), 𐑤𐑫𐑒 (look)</a:t>
            </a:r>
          </a:p>
          <a:p>
            <a:r>
              <a:rPr lang="en-US" dirty="0">
                <a:latin typeface="+mj-lt"/>
              </a:rPr>
              <a:t>𐑵</a:t>
            </a:r>
            <a:r>
              <a:rPr lang="en-US" dirty="0"/>
              <a:t> </a:t>
            </a:r>
            <a:r>
              <a:rPr lang="en-US" i="1" dirty="0"/>
              <a:t>ooze</a:t>
            </a:r>
            <a:r>
              <a:rPr lang="en-US" dirty="0"/>
              <a:t> – 𐑛𐑵 (do), 𐑣𐑵 (who)</a:t>
            </a:r>
          </a:p>
          <a:p>
            <a:r>
              <a:rPr lang="en-US" dirty="0">
                <a:latin typeface="+mj-lt"/>
              </a:rPr>
              <a:t>𐑘</a:t>
            </a:r>
            <a:r>
              <a:rPr lang="en-US" dirty="0"/>
              <a:t> </a:t>
            </a:r>
            <a:r>
              <a:rPr lang="en-US" i="1" dirty="0"/>
              <a:t>yea</a:t>
            </a:r>
            <a:r>
              <a:rPr lang="en-US" dirty="0"/>
              <a:t> – 𐑘𐑽 (year), 𐑘𐑧𐑕𐑑𐑼𐑛𐑱 (yesterday)</a:t>
            </a:r>
          </a:p>
        </p:txBody>
      </p:sp>
    </p:spTree>
    <p:extLst>
      <p:ext uri="{BB962C8B-B14F-4D97-AF65-F5344CB8AC3E}">
        <p14:creationId xmlns:p14="http://schemas.microsoft.com/office/powerpoint/2010/main" val="38260705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𐑿</a:t>
            </a:r>
            <a:r>
              <a:rPr lang="en-US" dirty="0"/>
              <a:t> </a:t>
            </a:r>
            <a:r>
              <a:rPr lang="en-US" i="1" dirty="0"/>
              <a:t>yew</a:t>
            </a:r>
            <a:r>
              <a:rPr lang="en-US" dirty="0"/>
              <a:t> – 𐑓𐑿 (few), 𐑓𐑻𐑕𐑑 (first)</a:t>
            </a:r>
          </a:p>
          <a:p>
            <a:r>
              <a:rPr lang="en-US" dirty="0">
                <a:latin typeface="+mj-lt"/>
              </a:rPr>
              <a:t>𐑐</a:t>
            </a:r>
            <a:r>
              <a:rPr lang="en-US" dirty="0"/>
              <a:t> </a:t>
            </a:r>
            <a:r>
              <a:rPr lang="en-US" i="1" dirty="0"/>
              <a:t>peep</a:t>
            </a:r>
            <a:r>
              <a:rPr lang="en-US" dirty="0"/>
              <a:t> – 𐑐𐑰𐑐𐑩𐑤 (people), 𐑐𐑤𐑰𐑟 (please)</a:t>
            </a:r>
          </a:p>
          <a:p>
            <a:r>
              <a:rPr lang="en-US" dirty="0">
                <a:latin typeface="+mj-lt"/>
              </a:rPr>
              <a:t>𐑙</a:t>
            </a:r>
            <a:r>
              <a:rPr lang="en-US" dirty="0"/>
              <a:t> </a:t>
            </a:r>
            <a:r>
              <a:rPr lang="en-US" i="1" dirty="0"/>
              <a:t>hung</a:t>
            </a:r>
            <a:r>
              <a:rPr lang="en-US" dirty="0"/>
              <a:t> – 𐑮𐑪𐑙 (wrong), 𐑘𐑳𐑙 (young)</a:t>
            </a:r>
          </a:p>
          <a:p>
            <a:r>
              <a:rPr lang="en-US" dirty="0">
                <a:latin typeface="+mj-lt"/>
              </a:rPr>
              <a:t>𐑔</a:t>
            </a:r>
            <a:r>
              <a:rPr lang="en-US" dirty="0"/>
              <a:t> </a:t>
            </a:r>
            <a:r>
              <a:rPr lang="en-US" i="1" dirty="0"/>
              <a:t>thigh</a:t>
            </a:r>
            <a:r>
              <a:rPr lang="en-US" dirty="0"/>
              <a:t>  – 𐑔𐑦𐑙𐑒 (think), 𐑔𐑮𐑵 (through)</a:t>
            </a:r>
          </a:p>
          <a:p>
            <a:r>
              <a:rPr lang="en-US" dirty="0">
                <a:latin typeface="+mj-lt"/>
              </a:rPr>
              <a:t>𐑜</a:t>
            </a:r>
            <a:r>
              <a:rPr lang="en-US" dirty="0"/>
              <a:t> </a:t>
            </a:r>
            <a:r>
              <a:rPr lang="en-US" i="1" dirty="0"/>
              <a:t>gag</a:t>
            </a:r>
            <a:r>
              <a:rPr lang="en-US" dirty="0"/>
              <a:t> – 𐑜𐑦𐑝 (give), 𐑜𐑫𐑛 (good)</a:t>
            </a:r>
          </a:p>
          <a:p>
            <a:r>
              <a:rPr lang="en-US" dirty="0">
                <a:latin typeface="+mj-lt"/>
              </a:rPr>
              <a:t>𐑷</a:t>
            </a:r>
            <a:r>
              <a:rPr lang="en-US" dirty="0"/>
              <a:t> </a:t>
            </a:r>
            <a:r>
              <a:rPr lang="en-US" i="1" dirty="0"/>
              <a:t>awe</a:t>
            </a:r>
            <a:r>
              <a:rPr lang="en-US" dirty="0"/>
              <a:t> – 𐑷𐑤𐑕𐑴 (also), 𐑑𐑷𐑒 (talk)</a:t>
            </a:r>
          </a:p>
          <a:p>
            <a:r>
              <a:rPr lang="en-US" dirty="0">
                <a:latin typeface="+mj-lt"/>
              </a:rPr>
              <a:t>𐑹</a:t>
            </a:r>
            <a:r>
              <a:rPr lang="en-US" dirty="0"/>
              <a:t> </a:t>
            </a:r>
            <a:r>
              <a:rPr lang="en-US" i="1" dirty="0"/>
              <a:t>or</a:t>
            </a:r>
            <a:r>
              <a:rPr lang="en-US" dirty="0"/>
              <a:t> – 𐑥𐑹 (more), 𐑢𐑹 (war)</a:t>
            </a:r>
          </a:p>
          <a:p>
            <a:r>
              <a:rPr lang="en-US" dirty="0">
                <a:latin typeface="+mj-lt"/>
              </a:rPr>
              <a:t>𐑭</a:t>
            </a:r>
            <a:r>
              <a:rPr lang="en-US" dirty="0"/>
              <a:t> </a:t>
            </a:r>
            <a:r>
              <a:rPr lang="en-US" i="1" dirty="0"/>
              <a:t>ah</a:t>
            </a:r>
            <a:r>
              <a:rPr lang="en-US" dirty="0"/>
              <a:t> – 𐑤𐑭𐑕𐑑 (last), 𐑐𐑭𐑕𐑑 (past)</a:t>
            </a:r>
          </a:p>
        </p:txBody>
      </p:sp>
    </p:spTree>
    <p:extLst>
      <p:ext uri="{BB962C8B-B14F-4D97-AF65-F5344CB8AC3E}">
        <p14:creationId xmlns:p14="http://schemas.microsoft.com/office/powerpoint/2010/main" val="10952849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𐑸 – </a:t>
            </a:r>
            <a:r>
              <a:rPr lang="en-US" b="1" u="sng" dirty="0"/>
              <a:t>ar</a:t>
            </a:r>
            <a:r>
              <a:rPr lang="en-US" b="1" dirty="0"/>
              <a:t>e</a:t>
            </a:r>
            <a:r>
              <a:rPr lang="en-US" dirty="0"/>
              <a:t>     𐑖 – </a:t>
            </a:r>
            <a:r>
              <a:rPr lang="en-US" b="1" u="sng" dirty="0"/>
              <a:t>s</a:t>
            </a:r>
            <a:r>
              <a:rPr lang="en-US" b="1" dirty="0"/>
              <a:t>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2400" y="2044699"/>
            <a:ext cx="5669200" cy="4394199"/>
          </a:xfrm>
        </p:spPr>
        <p:txBody>
          <a:bodyPr anchor="t"/>
          <a:lstStyle/>
          <a:p>
            <a:pPr rtl="0"/>
            <a:r>
              <a:rPr lang="en-US" dirty="0"/>
              <a:t>are → 𐑸</a:t>
            </a:r>
          </a:p>
          <a:p>
            <a:pPr rtl="0"/>
            <a:r>
              <a:rPr lang="en-US" dirty="0"/>
              <a:t>far → 𐑓𐑸</a:t>
            </a:r>
          </a:p>
          <a:p>
            <a:pPr rtl="0"/>
            <a:r>
              <a:rPr lang="en-US" dirty="0"/>
              <a:t>part → 𐑐𐑸𐑑</a:t>
            </a:r>
          </a:p>
          <a:p>
            <a:pPr rtl="0"/>
            <a:r>
              <a:rPr lang="en-US" dirty="0"/>
              <a:t>shall → 𐑖𐑨𐑤</a:t>
            </a:r>
          </a:p>
          <a:p>
            <a:pPr rtl="0"/>
            <a:r>
              <a:rPr lang="en-US" dirty="0"/>
              <a:t>shan’t → 𐑖𐑭𐑯𐑑</a:t>
            </a:r>
          </a:p>
          <a:p>
            <a:pPr rtl="0"/>
            <a:r>
              <a:rPr lang="en-US" dirty="0"/>
              <a:t>she → 𐑖𐑰</a:t>
            </a:r>
          </a:p>
          <a:p>
            <a:pPr rtl="0"/>
            <a:r>
              <a:rPr lang="en-US" dirty="0"/>
              <a:t>should → 𐑖𐑫𐑛</a:t>
            </a:r>
          </a:p>
          <a:p>
            <a:pPr rtl="0"/>
            <a:r>
              <a:rPr lang="en-US" dirty="0"/>
              <a:t>sure → 𐑖𐑫𐑼</a:t>
            </a:r>
          </a:p>
          <a:p>
            <a:pPr rtl="0"/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1056" y="2218193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056" y="403225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112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𐑗 – </a:t>
            </a:r>
            <a:r>
              <a:rPr lang="en-US" u="sng" dirty="0"/>
              <a:t>ch</a:t>
            </a:r>
            <a:r>
              <a:rPr lang="en-US" dirty="0"/>
              <a:t>urch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2" y="2044700"/>
            <a:ext cx="4656968" cy="4114800"/>
          </a:xfrm>
        </p:spPr>
        <p:txBody>
          <a:bodyPr anchor="t"/>
          <a:lstStyle/>
          <a:p>
            <a:r>
              <a:rPr lang="en-US" dirty="0"/>
              <a:t>each → 𐑰𐑗</a:t>
            </a:r>
          </a:p>
          <a:p>
            <a:pPr rtl="0"/>
            <a:r>
              <a:rPr lang="en-US" dirty="0"/>
              <a:t>much → 𐑥𐑳𐑗</a:t>
            </a:r>
          </a:p>
          <a:p>
            <a:pPr rtl="0"/>
            <a:r>
              <a:rPr lang="en-US" dirty="0"/>
              <a:t>question → 𐑒𐑢𐑧𐑕𐑗𐑩𐑯</a:t>
            </a:r>
          </a:p>
          <a:p>
            <a:pPr rtl="0"/>
            <a:r>
              <a:rPr lang="en-US" dirty="0"/>
              <a:t>reach → 𐑮𐑰𐑗</a:t>
            </a:r>
          </a:p>
          <a:p>
            <a:pPr rtl="0"/>
            <a:r>
              <a:rPr lang="en-US" dirty="0"/>
              <a:t>such → 𐑕𐑳𐑗</a:t>
            </a:r>
          </a:p>
          <a:p>
            <a:pPr rtl="0"/>
            <a:r>
              <a:rPr lang="en-US" dirty="0"/>
              <a:t>which → 𐑢𐑦𐑗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20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𐑬 – </a:t>
            </a:r>
            <a:r>
              <a:rPr lang="en-US" u="sng" dirty="0"/>
              <a:t>ou</a:t>
            </a:r>
            <a:r>
              <a:rPr lang="en-US" dirty="0"/>
              <a:t>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7832" y="2044700"/>
            <a:ext cx="4656968" cy="4114800"/>
          </a:xfrm>
        </p:spPr>
        <p:txBody>
          <a:bodyPr anchor="t"/>
          <a:lstStyle/>
          <a:p>
            <a:r>
              <a:rPr lang="en-US" dirty="0"/>
              <a:t>about → 𐑩𐑚𐑬𐑑</a:t>
            </a:r>
          </a:p>
          <a:p>
            <a:pPr rtl="0"/>
            <a:r>
              <a:rPr lang="en-US" dirty="0"/>
              <a:t>down → 𐑛𐑬𐑯</a:t>
            </a:r>
          </a:p>
          <a:p>
            <a:pPr rtl="0"/>
            <a:r>
              <a:rPr lang="en-US" dirty="0"/>
              <a:t>how → 𐑣𐑬</a:t>
            </a:r>
          </a:p>
          <a:p>
            <a:pPr rtl="0"/>
            <a:r>
              <a:rPr lang="en-US" dirty="0"/>
              <a:t>now → 𐑯𐑬</a:t>
            </a:r>
          </a:p>
          <a:p>
            <a:pPr rtl="0"/>
            <a:r>
              <a:rPr lang="en-US" dirty="0"/>
              <a:t>our → 𐑬𐑼</a:t>
            </a:r>
          </a:p>
          <a:p>
            <a:pPr rtl="0"/>
            <a:r>
              <a:rPr lang="en-US" dirty="0"/>
              <a:t>out → 𐑬𐑑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42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𐑡 – </a:t>
            </a:r>
            <a:r>
              <a:rPr lang="en-US" b="1" u="sng" dirty="0"/>
              <a:t>j</a:t>
            </a:r>
            <a:r>
              <a:rPr lang="en-US" dirty="0"/>
              <a:t>udge     𐑠 – </a:t>
            </a:r>
            <a:r>
              <a:rPr lang="en-US" dirty="0" err="1"/>
              <a:t>mea</a:t>
            </a:r>
            <a:r>
              <a:rPr lang="en-US" b="1" u="sng" dirty="0" err="1"/>
              <a:t>s</a:t>
            </a:r>
            <a:r>
              <a:rPr lang="en-US" dirty="0" err="1"/>
              <a:t>aure</a:t>
            </a:r>
            <a:r>
              <a:rPr lang="en-US" dirty="0"/>
              <a:t>       𐑶 – </a:t>
            </a:r>
            <a:r>
              <a:rPr lang="en-US" u="sng" dirty="0"/>
              <a:t>oi</a:t>
            </a:r>
            <a:r>
              <a:rPr lang="en-US" dirty="0"/>
              <a:t>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2044700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just → 𐑡𐑳𐑕𐑑</a:t>
            </a:r>
          </a:p>
          <a:p>
            <a:pPr rtl="0"/>
            <a:r>
              <a:rPr lang="en-US" dirty="0"/>
              <a:t>large → 𐑤𐑸𐑡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E897E-6FBD-8345-140F-936887E9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9200" y="3616537"/>
            <a:ext cx="1504950" cy="1504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CF76C-55A6-82F7-9D7E-92F07A4A78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9200" y="5188374"/>
            <a:ext cx="1504950" cy="15049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07940-42E8-7E39-72A5-6D13FE2B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3616537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pleasure → 𐑐𐑤𐑧𐑠𐑼</a:t>
            </a:r>
          </a:p>
          <a:p>
            <a:pPr rtl="0"/>
            <a:r>
              <a:rPr lang="en-US" dirty="0"/>
              <a:t>usual → 𐑿𐑠𐑫𐑩𐑤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D7B3C0-A14C-3AE6-E32E-4FE3B4BC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6" y="5188374"/>
            <a:ext cx="6072324" cy="1504950"/>
          </a:xfrm>
        </p:spPr>
        <p:txBody>
          <a:bodyPr anchor="ctr"/>
          <a:lstStyle/>
          <a:p>
            <a:pPr rtl="0"/>
            <a:r>
              <a:rPr lang="en-US" dirty="0"/>
              <a:t>oil → 𐑶𐑤</a:t>
            </a:r>
          </a:p>
        </p:txBody>
      </p:sp>
    </p:spTree>
    <p:extLst>
      <p:ext uri="{BB962C8B-B14F-4D97-AF65-F5344CB8AC3E}">
        <p14:creationId xmlns:p14="http://schemas.microsoft.com/office/powerpoint/2010/main" val="22027306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𐑯</a:t>
            </a:r>
            <a:r>
              <a:rPr lang="en-US" dirty="0"/>
              <a:t> </a:t>
            </a:r>
            <a:r>
              <a:rPr lang="en-US" i="1" dirty="0"/>
              <a:t>nun</a:t>
            </a:r>
            <a:r>
              <a:rPr lang="en-US" dirty="0"/>
              <a:t> – 𐑯 (and)</a:t>
            </a:r>
          </a:p>
          <a:p>
            <a:r>
              <a:rPr lang="en-US" dirty="0">
                <a:latin typeface="+mj-lt"/>
              </a:rPr>
              <a:t>𐑑</a:t>
            </a:r>
            <a:r>
              <a:rPr lang="en-US" dirty="0"/>
              <a:t> </a:t>
            </a:r>
            <a:r>
              <a:rPr lang="en-US" i="1" dirty="0"/>
              <a:t>tot</a:t>
            </a:r>
            <a:r>
              <a:rPr lang="en-US" dirty="0"/>
              <a:t> – 𐑑 (to)</a:t>
            </a:r>
          </a:p>
          <a:p>
            <a:r>
              <a:rPr lang="en-US" dirty="0">
                <a:latin typeface="+mj-lt"/>
              </a:rPr>
              <a:t>𐑦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– 𐑦𐑯 (in), 𐑦𐑑 (it)</a:t>
            </a:r>
          </a:p>
          <a:p>
            <a:r>
              <a:rPr lang="en-US" dirty="0">
                <a:latin typeface="+mj-lt"/>
              </a:rPr>
              <a:t>𐑕</a:t>
            </a:r>
            <a:r>
              <a:rPr lang="en-US" dirty="0"/>
              <a:t> </a:t>
            </a:r>
            <a:r>
              <a:rPr lang="en-US" i="1" dirty="0"/>
              <a:t>so</a:t>
            </a:r>
            <a:r>
              <a:rPr lang="en-US" dirty="0"/>
              <a:t> </a:t>
            </a:r>
          </a:p>
          <a:p>
            <a:r>
              <a:rPr lang="en-US" dirty="0">
                <a:latin typeface="+mj-lt"/>
              </a:rPr>
              <a:t>𐑤</a:t>
            </a:r>
            <a:r>
              <a:rPr lang="en-US" dirty="0"/>
              <a:t> </a:t>
            </a:r>
            <a:r>
              <a:rPr lang="en-US" i="1" dirty="0"/>
              <a:t>loll</a:t>
            </a:r>
            <a:r>
              <a:rPr lang="en-US" dirty="0"/>
              <a:t> – 𐑕𐑑𐑦𐑤 (still)</a:t>
            </a:r>
          </a:p>
          <a:p>
            <a:r>
              <a:rPr lang="en-US" dirty="0">
                <a:latin typeface="+mj-lt"/>
              </a:rPr>
              <a:t>𐑛</a:t>
            </a:r>
            <a:r>
              <a:rPr lang="en-US" dirty="0"/>
              <a:t> </a:t>
            </a:r>
            <a:r>
              <a:rPr lang="en-US" i="1" dirty="0"/>
              <a:t>dead</a:t>
            </a:r>
            <a:r>
              <a:rPr lang="en-US" dirty="0"/>
              <a:t> – 𐑛𐑦𐑛 (did)</a:t>
            </a:r>
          </a:p>
          <a:p>
            <a:r>
              <a:rPr lang="en-US" dirty="0">
                <a:latin typeface="+mj-lt"/>
              </a:rPr>
              <a:t>𐑢</a:t>
            </a:r>
            <a:r>
              <a:rPr lang="en-US" dirty="0"/>
              <a:t> </a:t>
            </a:r>
            <a:r>
              <a:rPr lang="en-US" i="1" dirty="0"/>
              <a:t>woe</a:t>
            </a:r>
            <a:r>
              <a:rPr lang="en-US" dirty="0"/>
              <a:t> – 𐑢𐑦𐑤 (will)</a:t>
            </a:r>
          </a:p>
          <a:p>
            <a:r>
              <a:rPr lang="en-US" dirty="0">
                <a:latin typeface="+mj-lt"/>
              </a:rPr>
              <a:t>𐑥</a:t>
            </a:r>
            <a:r>
              <a:rPr lang="en-US" dirty="0"/>
              <a:t> </a:t>
            </a:r>
            <a:r>
              <a:rPr lang="en-US" i="1" dirty="0"/>
              <a:t>mum</a:t>
            </a:r>
            <a:r>
              <a:rPr lang="en-US" dirty="0"/>
              <a:t> – 𐑢𐑦𐑥𐑦𐑯 (women)</a:t>
            </a:r>
          </a:p>
        </p:txBody>
      </p:sp>
    </p:spTree>
    <p:extLst>
      <p:ext uri="{BB962C8B-B14F-4D97-AF65-F5344CB8AC3E}">
        <p14:creationId xmlns:p14="http://schemas.microsoft.com/office/powerpoint/2010/main" val="3480489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𐑧</a:t>
            </a:r>
            <a:r>
              <a:rPr lang="en-US" dirty="0"/>
              <a:t> </a:t>
            </a:r>
            <a:r>
              <a:rPr lang="en-US" i="1" dirty="0"/>
              <a:t>egg</a:t>
            </a:r>
            <a:r>
              <a:rPr lang="en-US" dirty="0"/>
              <a:t> – 𐑥𐑧𐑯 (men), 𐑕𐑧𐑛 (said), 𐑢𐑧𐑤 (well)</a:t>
            </a:r>
          </a:p>
          <a:p>
            <a:r>
              <a:rPr lang="en-US" dirty="0">
                <a:latin typeface="+mj-lt"/>
              </a:rPr>
              <a:t>𐑩</a:t>
            </a:r>
            <a:r>
              <a:rPr lang="en-US" dirty="0"/>
              <a:t> </a:t>
            </a:r>
            <a:r>
              <a:rPr lang="en-US" i="1" dirty="0"/>
              <a:t>ado</a:t>
            </a:r>
            <a:r>
              <a:rPr lang="en-US" dirty="0"/>
              <a:t> – 𐑩 (a), 𐑛𐑦𐑛𐑩𐑯𐑑 (didn’t), 𐑤𐑦𐑑𐑩𐑤 (little)</a:t>
            </a:r>
          </a:p>
          <a:p>
            <a:r>
              <a:rPr lang="en-US" dirty="0">
                <a:latin typeface="+mj-lt"/>
              </a:rPr>
              <a:t>𐑳</a:t>
            </a:r>
            <a:r>
              <a:rPr lang="en-US" dirty="0"/>
              <a:t> </a:t>
            </a:r>
            <a:r>
              <a:rPr lang="en-US" i="1" dirty="0"/>
              <a:t>up</a:t>
            </a:r>
            <a:r>
              <a:rPr lang="en-US" dirty="0"/>
              <a:t> – 𐑛𐑳𐑯 (done), 𐑢𐑳𐑯 (one)</a:t>
            </a:r>
          </a:p>
          <a:p>
            <a:r>
              <a:rPr lang="en-US" dirty="0">
                <a:latin typeface="+mj-lt"/>
              </a:rPr>
              <a:t>𐑒 </a:t>
            </a:r>
            <a:r>
              <a:rPr lang="en-US" i="1" dirty="0"/>
              <a:t>kick</a:t>
            </a:r>
            <a:r>
              <a:rPr lang="en-US" dirty="0"/>
              <a:t> – 𐑒𐑳𐑥 (come), 𐑯𐑧𐑒𐑕𐑑 (next)</a:t>
            </a:r>
          </a:p>
          <a:p>
            <a:r>
              <a:rPr lang="en-US" dirty="0">
                <a:latin typeface="+mj-lt"/>
              </a:rPr>
              <a:t>𐑱</a:t>
            </a:r>
            <a:r>
              <a:rPr lang="en-US" dirty="0"/>
              <a:t> </a:t>
            </a:r>
            <a:r>
              <a:rPr lang="en-US" i="1" dirty="0"/>
              <a:t>age </a:t>
            </a:r>
            <a:r>
              <a:rPr lang="en-US" dirty="0"/>
              <a:t>– 𐑥𐑱𐑒 (make), 𐑑𐑩𐑛𐑱 (today)</a:t>
            </a:r>
          </a:p>
          <a:p>
            <a:r>
              <a:rPr lang="en-US" dirty="0">
                <a:latin typeface="+mj-lt"/>
              </a:rPr>
              <a:t>𐑮</a:t>
            </a:r>
            <a:r>
              <a:rPr lang="en-US" dirty="0"/>
              <a:t> </a:t>
            </a:r>
            <a:r>
              <a:rPr lang="en-US" i="1" dirty="0"/>
              <a:t>roar</a:t>
            </a:r>
            <a:r>
              <a:rPr lang="en-US" dirty="0"/>
              <a:t> – 𐑮𐑦𐑑𐑩𐑯 (written)</a:t>
            </a:r>
          </a:p>
          <a:p>
            <a:r>
              <a:rPr lang="en-US" dirty="0">
                <a:latin typeface="+mj-lt"/>
              </a:rPr>
              <a:t>𐑼</a:t>
            </a:r>
            <a:r>
              <a:rPr lang="en-US" dirty="0"/>
              <a:t> </a:t>
            </a:r>
            <a:r>
              <a:rPr lang="en-US" i="1" dirty="0"/>
              <a:t>array</a:t>
            </a:r>
            <a:r>
              <a:rPr lang="en-US" dirty="0"/>
              <a:t> – 𐑳𐑯𐑛𐑼 (under)</a:t>
            </a:r>
          </a:p>
          <a:p>
            <a:r>
              <a:rPr lang="en-US" dirty="0">
                <a:latin typeface="+mj-lt"/>
              </a:rPr>
              <a:t>𐑽</a:t>
            </a:r>
            <a:r>
              <a:rPr lang="en-US" dirty="0"/>
              <a:t> </a:t>
            </a:r>
            <a:r>
              <a:rPr lang="en-US" i="1" dirty="0"/>
              <a:t>ear</a:t>
            </a:r>
            <a:r>
              <a:rPr lang="en-US" dirty="0"/>
              <a:t> – 𐑛𐑽 (dear), 𐑯𐑽 (near)</a:t>
            </a:r>
          </a:p>
        </p:txBody>
      </p:sp>
    </p:spTree>
    <p:extLst>
      <p:ext uri="{BB962C8B-B14F-4D97-AF65-F5344CB8AC3E}">
        <p14:creationId xmlns:p14="http://schemas.microsoft.com/office/powerpoint/2010/main" val="18798773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𐑺</a:t>
            </a:r>
            <a:r>
              <a:rPr lang="en-US" dirty="0"/>
              <a:t> </a:t>
            </a:r>
            <a:r>
              <a:rPr lang="en-US" i="1" dirty="0"/>
              <a:t>air</a:t>
            </a:r>
            <a:r>
              <a:rPr lang="en-US" dirty="0"/>
              <a:t> – 𐑢𐑺 (where)</a:t>
            </a:r>
          </a:p>
          <a:p>
            <a:r>
              <a:rPr lang="en-US" dirty="0">
                <a:latin typeface="+mj-lt"/>
              </a:rPr>
              <a:t>𐑻</a:t>
            </a:r>
            <a:r>
              <a:rPr lang="en-US" dirty="0"/>
              <a:t> </a:t>
            </a:r>
            <a:r>
              <a:rPr lang="en-US" i="1" dirty="0"/>
              <a:t>err</a:t>
            </a:r>
            <a:r>
              <a:rPr lang="en-US" dirty="0"/>
              <a:t> – 𐑢𐑻 (were), 𐑢𐑻𐑤𐑛 (world)</a:t>
            </a:r>
          </a:p>
          <a:p>
            <a:r>
              <a:rPr lang="en-US" dirty="0">
                <a:latin typeface="+mj-lt"/>
              </a:rPr>
              <a:t>𐑞</a:t>
            </a:r>
            <a:r>
              <a:rPr lang="en-US" dirty="0"/>
              <a:t> </a:t>
            </a:r>
            <a:r>
              <a:rPr lang="en-US" i="1" dirty="0"/>
              <a:t>they</a:t>
            </a:r>
            <a:r>
              <a:rPr lang="en-US" dirty="0"/>
              <a:t> – 𐑳𐑞𐑼 (other), 𐑞𐑧𐑯 (then)</a:t>
            </a:r>
          </a:p>
          <a:p>
            <a:r>
              <a:rPr lang="en-US" dirty="0">
                <a:latin typeface="+mj-lt"/>
              </a:rPr>
              <a:t>𐑟 </a:t>
            </a:r>
            <a:r>
              <a:rPr lang="en-US" i="1" dirty="0"/>
              <a:t>zoo</a:t>
            </a:r>
            <a:r>
              <a:rPr lang="en-US" dirty="0"/>
              <a:t> – 𐑛𐑳𐑟 (does), 𐑦𐑟 (is), 𐑕𐑧𐑟 (says)</a:t>
            </a:r>
          </a:p>
          <a:p>
            <a:r>
              <a:rPr lang="en-US" dirty="0">
                <a:latin typeface="+mj-lt"/>
              </a:rPr>
              <a:t>𐑪</a:t>
            </a:r>
            <a:r>
              <a:rPr lang="en-US" dirty="0"/>
              <a:t> </a:t>
            </a:r>
            <a:r>
              <a:rPr lang="en-US" i="1" dirty="0"/>
              <a:t>on </a:t>
            </a:r>
            <a:r>
              <a:rPr lang="en-US" dirty="0"/>
              <a:t>– 𐑤𐑪𐑕𐑑 (lost), 𐑯𐑪𐑑 (not), 𐑢𐑪𐑟 (was)</a:t>
            </a:r>
          </a:p>
          <a:p>
            <a:r>
              <a:rPr lang="en-US" dirty="0">
                <a:latin typeface="+mj-lt"/>
              </a:rPr>
              <a:t>𐑰</a:t>
            </a:r>
            <a:r>
              <a:rPr lang="en-US" dirty="0"/>
              <a:t> </a:t>
            </a:r>
            <a:r>
              <a:rPr lang="en-US" i="1" dirty="0"/>
              <a:t>eat </a:t>
            </a:r>
            <a:r>
              <a:rPr lang="en-US" dirty="0"/>
              <a:t>– 𐑥𐑰 (me), 𐑮𐑰𐑛 (read), 𐑞𐑰𐑟 (these)</a:t>
            </a:r>
          </a:p>
          <a:p>
            <a:r>
              <a:rPr lang="en-US" dirty="0">
                <a:latin typeface="+mj-lt"/>
              </a:rPr>
              <a:t>𐑴</a:t>
            </a:r>
            <a:r>
              <a:rPr lang="en-US" dirty="0"/>
              <a:t> </a:t>
            </a:r>
            <a:r>
              <a:rPr lang="en-US" i="1" dirty="0"/>
              <a:t>oak</a:t>
            </a:r>
            <a:r>
              <a:rPr lang="en-US" dirty="0"/>
              <a:t> – 𐑛𐑴𐑯𐑑 (don’t), 𐑯𐑴 (know)</a:t>
            </a:r>
          </a:p>
          <a:p>
            <a:r>
              <a:rPr lang="en-US" dirty="0">
                <a:latin typeface="+mj-lt"/>
              </a:rPr>
              <a:t>𐑨</a:t>
            </a:r>
            <a:r>
              <a:rPr lang="en-US" dirty="0"/>
              <a:t> </a:t>
            </a:r>
            <a:r>
              <a:rPr lang="en-US" i="1" dirty="0"/>
              <a:t>ash</a:t>
            </a:r>
            <a:r>
              <a:rPr lang="en-US" dirty="0"/>
              <a:t> – 𐑨𐑥 (am), 𐑒𐑨𐑯 (can), 𐑞𐑨𐑑 (that)</a:t>
            </a:r>
          </a:p>
        </p:txBody>
      </p:sp>
    </p:spTree>
    <p:extLst>
      <p:ext uri="{BB962C8B-B14F-4D97-AF65-F5344CB8AC3E}">
        <p14:creationId xmlns:p14="http://schemas.microsoft.com/office/powerpoint/2010/main" val="2346986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𐑓</a:t>
            </a:r>
            <a:r>
              <a:rPr lang="en-US" dirty="0"/>
              <a:t> </a:t>
            </a:r>
            <a:r>
              <a:rPr lang="en-US" i="1" dirty="0"/>
              <a:t>fee</a:t>
            </a:r>
            <a:r>
              <a:rPr lang="en-US" dirty="0"/>
              <a:t> – 𐑦𐑯𐑳𐑓 (enough), 𐑓𐑻𐑕𐑑 (first)</a:t>
            </a:r>
          </a:p>
          <a:p>
            <a:r>
              <a:rPr lang="en-US" dirty="0">
                <a:latin typeface="+mj-lt"/>
              </a:rPr>
              <a:t>𐑲</a:t>
            </a:r>
            <a:r>
              <a:rPr lang="en-US" dirty="0"/>
              <a:t> </a:t>
            </a:r>
            <a:r>
              <a:rPr lang="en-US" i="1" dirty="0"/>
              <a:t>ice</a:t>
            </a:r>
            <a:r>
              <a:rPr lang="en-US" dirty="0"/>
              <a:t> – 𐑤𐑲𐑒 (like), 𐑢𐑲𐑤 (while)</a:t>
            </a:r>
          </a:p>
          <a:p>
            <a:r>
              <a:rPr lang="en-US" dirty="0">
                <a:latin typeface="+mj-lt"/>
              </a:rPr>
              <a:t>𐑣</a:t>
            </a:r>
            <a:r>
              <a:rPr lang="en-US" dirty="0"/>
              <a:t> </a:t>
            </a:r>
            <a:r>
              <a:rPr lang="en-US" i="1" dirty="0"/>
              <a:t>ha-ha</a:t>
            </a:r>
            <a:r>
              <a:rPr lang="en-US" dirty="0"/>
              <a:t> – 𐑣𐑨𐑟 (has), 𐑣𐑴𐑤 (whole)</a:t>
            </a:r>
          </a:p>
          <a:p>
            <a:r>
              <a:rPr lang="en-US" dirty="0">
                <a:latin typeface="+mj-lt"/>
              </a:rPr>
              <a:t>𐑝</a:t>
            </a:r>
            <a:r>
              <a:rPr lang="en-US" dirty="0"/>
              <a:t> </a:t>
            </a:r>
            <a:r>
              <a:rPr lang="en-US" i="1" dirty="0"/>
              <a:t>vow</a:t>
            </a:r>
            <a:r>
              <a:rPr lang="en-US" dirty="0"/>
              <a:t>  – 𐑧𐑝𐑼 (ever), 𐑣𐑨𐑝 (have)</a:t>
            </a:r>
          </a:p>
          <a:p>
            <a:r>
              <a:rPr lang="en-US" dirty="0">
                <a:latin typeface="+mj-lt"/>
              </a:rPr>
              <a:t>𐑚</a:t>
            </a:r>
            <a:r>
              <a:rPr lang="en-US" dirty="0"/>
              <a:t> </a:t>
            </a:r>
            <a:r>
              <a:rPr lang="en-US" i="1" dirty="0"/>
              <a:t>bib</a:t>
            </a:r>
            <a:r>
              <a:rPr lang="en-US" dirty="0"/>
              <a:t> – 𐑚𐑰 (be), 𐑚𐑦𐑒𐑪𐑟 (because)</a:t>
            </a:r>
          </a:p>
          <a:p>
            <a:r>
              <a:rPr lang="en-US" dirty="0">
                <a:latin typeface="+mj-lt"/>
              </a:rPr>
              <a:t>𐑫</a:t>
            </a:r>
            <a:r>
              <a:rPr lang="en-US" dirty="0"/>
              <a:t> </a:t>
            </a:r>
            <a:r>
              <a:rPr lang="en-US" i="1" dirty="0"/>
              <a:t>wool</a:t>
            </a:r>
            <a:r>
              <a:rPr lang="en-US" dirty="0"/>
              <a:t> – 𐑒𐑫𐑛 (could), 𐑤𐑫𐑒 (look)</a:t>
            </a:r>
          </a:p>
          <a:p>
            <a:r>
              <a:rPr lang="en-US" dirty="0">
                <a:latin typeface="+mj-lt"/>
              </a:rPr>
              <a:t>𐑵</a:t>
            </a:r>
            <a:r>
              <a:rPr lang="en-US" dirty="0"/>
              <a:t> </a:t>
            </a:r>
            <a:r>
              <a:rPr lang="en-US" i="1" dirty="0"/>
              <a:t>ooze</a:t>
            </a:r>
            <a:r>
              <a:rPr lang="en-US" dirty="0"/>
              <a:t> – 𐑛𐑵 (do), 𐑣𐑵 (who)</a:t>
            </a:r>
          </a:p>
          <a:p>
            <a:r>
              <a:rPr lang="en-US" dirty="0">
                <a:latin typeface="+mj-lt"/>
              </a:rPr>
              <a:t>𐑘</a:t>
            </a:r>
            <a:r>
              <a:rPr lang="en-US" dirty="0"/>
              <a:t> </a:t>
            </a:r>
            <a:r>
              <a:rPr lang="en-US" i="1" dirty="0"/>
              <a:t>yea</a:t>
            </a:r>
            <a:r>
              <a:rPr lang="en-US" dirty="0"/>
              <a:t> – 𐑘𐑽 (year), 𐑘𐑧𐑕𐑑𐑼𐑛𐑱 (yesterday)</a:t>
            </a:r>
          </a:p>
        </p:txBody>
      </p:sp>
    </p:spTree>
    <p:extLst>
      <p:ext uri="{BB962C8B-B14F-4D97-AF65-F5344CB8AC3E}">
        <p14:creationId xmlns:p14="http://schemas.microsoft.com/office/powerpoint/2010/main" val="15114950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𐑿</a:t>
            </a:r>
            <a:r>
              <a:rPr lang="en-US" dirty="0"/>
              <a:t> </a:t>
            </a:r>
            <a:r>
              <a:rPr lang="en-US" i="1" dirty="0"/>
              <a:t>yew</a:t>
            </a:r>
            <a:r>
              <a:rPr lang="en-US" dirty="0"/>
              <a:t> – 𐑓𐑿 (few), 𐑓𐑻𐑕𐑑 (first)</a:t>
            </a:r>
          </a:p>
          <a:p>
            <a:r>
              <a:rPr lang="en-US" dirty="0">
                <a:latin typeface="+mj-lt"/>
              </a:rPr>
              <a:t>𐑐</a:t>
            </a:r>
            <a:r>
              <a:rPr lang="en-US" dirty="0"/>
              <a:t> </a:t>
            </a:r>
            <a:r>
              <a:rPr lang="en-US" i="1" dirty="0"/>
              <a:t>peep</a:t>
            </a:r>
            <a:r>
              <a:rPr lang="en-US" dirty="0"/>
              <a:t> – 𐑐𐑰𐑐𐑩𐑤 (people), 𐑐𐑤𐑰𐑟 (please)</a:t>
            </a:r>
          </a:p>
          <a:p>
            <a:r>
              <a:rPr lang="en-US" dirty="0">
                <a:latin typeface="+mj-lt"/>
              </a:rPr>
              <a:t>𐑙</a:t>
            </a:r>
            <a:r>
              <a:rPr lang="en-US" dirty="0"/>
              <a:t> </a:t>
            </a:r>
            <a:r>
              <a:rPr lang="en-US" i="1" dirty="0"/>
              <a:t>hung</a:t>
            </a:r>
            <a:r>
              <a:rPr lang="en-US" dirty="0"/>
              <a:t> – 𐑮𐑪𐑙 (wrong), 𐑘𐑳𐑙 (young)</a:t>
            </a:r>
          </a:p>
          <a:p>
            <a:r>
              <a:rPr lang="en-US" dirty="0">
                <a:latin typeface="+mj-lt"/>
              </a:rPr>
              <a:t>𐑔</a:t>
            </a:r>
            <a:r>
              <a:rPr lang="en-US" dirty="0"/>
              <a:t> </a:t>
            </a:r>
            <a:r>
              <a:rPr lang="en-US" i="1" dirty="0"/>
              <a:t>thigh</a:t>
            </a:r>
            <a:r>
              <a:rPr lang="en-US" dirty="0"/>
              <a:t>  – 𐑔𐑦𐑙𐑒 (think), 𐑔𐑮𐑵 (through)</a:t>
            </a:r>
          </a:p>
          <a:p>
            <a:r>
              <a:rPr lang="en-US" dirty="0">
                <a:latin typeface="+mj-lt"/>
              </a:rPr>
              <a:t>𐑜</a:t>
            </a:r>
            <a:r>
              <a:rPr lang="en-US" dirty="0"/>
              <a:t> </a:t>
            </a:r>
            <a:r>
              <a:rPr lang="en-US" i="1" dirty="0"/>
              <a:t>gag</a:t>
            </a:r>
            <a:r>
              <a:rPr lang="en-US" dirty="0"/>
              <a:t> – 𐑜𐑦𐑝 (give), 𐑜𐑫𐑛 (good)</a:t>
            </a:r>
          </a:p>
          <a:p>
            <a:r>
              <a:rPr lang="en-US" dirty="0">
                <a:latin typeface="+mj-lt"/>
              </a:rPr>
              <a:t>𐑷</a:t>
            </a:r>
            <a:r>
              <a:rPr lang="en-US" dirty="0"/>
              <a:t> </a:t>
            </a:r>
            <a:r>
              <a:rPr lang="en-US" i="1" dirty="0"/>
              <a:t>awe</a:t>
            </a:r>
            <a:r>
              <a:rPr lang="en-US" dirty="0"/>
              <a:t> – 𐑷𐑤𐑕𐑴 (also), 𐑑𐑷𐑒 (talk)</a:t>
            </a:r>
          </a:p>
          <a:p>
            <a:r>
              <a:rPr lang="en-US" dirty="0">
                <a:latin typeface="+mj-lt"/>
              </a:rPr>
              <a:t>𐑹</a:t>
            </a:r>
            <a:r>
              <a:rPr lang="en-US" dirty="0"/>
              <a:t> </a:t>
            </a:r>
            <a:r>
              <a:rPr lang="en-US" i="1" dirty="0"/>
              <a:t>or</a:t>
            </a:r>
            <a:r>
              <a:rPr lang="en-US" dirty="0"/>
              <a:t> – 𐑥𐑹 (more), 𐑢𐑹 (war)</a:t>
            </a:r>
          </a:p>
          <a:p>
            <a:r>
              <a:rPr lang="en-US" dirty="0">
                <a:latin typeface="+mj-lt"/>
              </a:rPr>
              <a:t>𐑭</a:t>
            </a:r>
            <a:r>
              <a:rPr lang="en-US" dirty="0"/>
              <a:t> </a:t>
            </a:r>
            <a:r>
              <a:rPr lang="en-US" i="1" dirty="0"/>
              <a:t>ah</a:t>
            </a:r>
            <a:r>
              <a:rPr lang="en-US" dirty="0"/>
              <a:t> – 𐑤𐑭𐑕𐑑 (last), 𐑐𐑭𐑕𐑑 (past)</a:t>
            </a:r>
          </a:p>
        </p:txBody>
      </p:sp>
    </p:spTree>
    <p:extLst>
      <p:ext uri="{BB962C8B-B14F-4D97-AF65-F5344CB8AC3E}">
        <p14:creationId xmlns:p14="http://schemas.microsoft.com/office/powerpoint/2010/main" val="25300491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7E5D-8D37-BD73-C012-B4AC1AC3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9FB2-08C9-241F-AF5C-F1F83396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𐑸</a:t>
            </a:r>
            <a:r>
              <a:rPr lang="en-US" dirty="0"/>
              <a:t> </a:t>
            </a:r>
            <a:r>
              <a:rPr lang="en-US" i="1" dirty="0"/>
              <a:t>are</a:t>
            </a:r>
            <a:r>
              <a:rPr lang="en-US" dirty="0"/>
              <a:t> – 𐑓𐑸 (far), 𐑐𐑸𐑑 (part)</a:t>
            </a:r>
          </a:p>
          <a:p>
            <a:r>
              <a:rPr lang="en-US" dirty="0">
                <a:latin typeface="+mj-lt"/>
              </a:rPr>
              <a:t>𐑖</a:t>
            </a:r>
            <a:r>
              <a:rPr lang="en-US" dirty="0"/>
              <a:t> </a:t>
            </a:r>
            <a:r>
              <a:rPr lang="en-US" i="1" dirty="0"/>
              <a:t>sure</a:t>
            </a:r>
            <a:r>
              <a:rPr lang="en-US" dirty="0"/>
              <a:t> – 𐑖𐑰 (she), 𐑖𐑫𐑛 (should)</a:t>
            </a:r>
          </a:p>
          <a:p>
            <a:r>
              <a:rPr lang="en-US" dirty="0">
                <a:latin typeface="+mj-lt"/>
              </a:rPr>
              <a:t>𐑗</a:t>
            </a:r>
            <a:r>
              <a:rPr lang="en-US" dirty="0"/>
              <a:t> </a:t>
            </a:r>
            <a:r>
              <a:rPr lang="en-US" i="1" dirty="0"/>
              <a:t>church</a:t>
            </a:r>
            <a:r>
              <a:rPr lang="en-US" dirty="0"/>
              <a:t> – 𐑰𐑗 (each), 𐑢𐑦𐑗 (which)</a:t>
            </a:r>
          </a:p>
          <a:p>
            <a:r>
              <a:rPr lang="en-US" dirty="0">
                <a:latin typeface="+mj-lt"/>
              </a:rPr>
              <a:t>𐑬</a:t>
            </a:r>
            <a:r>
              <a:rPr lang="en-US" dirty="0"/>
              <a:t> </a:t>
            </a:r>
            <a:r>
              <a:rPr lang="en-US" i="1" dirty="0"/>
              <a:t>out</a:t>
            </a:r>
            <a:r>
              <a:rPr lang="en-US" dirty="0"/>
              <a:t>  – 𐑩𐑚𐑬𐑑 (about), 𐑯𐑬 (now)</a:t>
            </a:r>
          </a:p>
          <a:p>
            <a:r>
              <a:rPr lang="en-US" dirty="0">
                <a:latin typeface="+mj-lt"/>
              </a:rPr>
              <a:t>𐑡</a:t>
            </a:r>
            <a:r>
              <a:rPr lang="en-US" dirty="0"/>
              <a:t> </a:t>
            </a:r>
            <a:r>
              <a:rPr lang="en-US" i="1" dirty="0"/>
              <a:t>judge</a:t>
            </a:r>
            <a:r>
              <a:rPr lang="en-US" dirty="0"/>
              <a:t> – 𐑡𐑳𐑕𐑑 (just), 𐑤𐑸𐑡 (large)</a:t>
            </a:r>
          </a:p>
          <a:p>
            <a:r>
              <a:rPr lang="en-US" dirty="0">
                <a:latin typeface="+mj-lt"/>
              </a:rPr>
              <a:t>𐑠</a:t>
            </a:r>
            <a:r>
              <a:rPr lang="en-US" dirty="0"/>
              <a:t> </a:t>
            </a:r>
            <a:r>
              <a:rPr lang="en-US" i="1" dirty="0"/>
              <a:t>measure</a:t>
            </a:r>
            <a:r>
              <a:rPr lang="en-US" dirty="0"/>
              <a:t> – </a:t>
            </a:r>
          </a:p>
          <a:p>
            <a:pPr marL="0" indent="0">
              <a:buNone/>
            </a:pPr>
            <a:r>
              <a:rPr lang="en-US" dirty="0"/>
              <a:t>      𐑐𐑤𐑧𐑠𐑼 (pleasure), usual (𐑿𐑠𐑫𐑩𐑤)</a:t>
            </a:r>
          </a:p>
          <a:p>
            <a:r>
              <a:rPr lang="en-US" dirty="0">
                <a:latin typeface="+mj-lt"/>
              </a:rPr>
              <a:t>𐑶</a:t>
            </a:r>
            <a:r>
              <a:rPr lang="en-US" dirty="0"/>
              <a:t> </a:t>
            </a:r>
            <a:r>
              <a:rPr lang="en-US" i="1" dirty="0"/>
              <a:t>oil</a:t>
            </a:r>
            <a:r>
              <a:rPr lang="en-US" dirty="0"/>
              <a:t> – 𐑶𐑤 (oil)</a:t>
            </a:r>
          </a:p>
        </p:txBody>
      </p:sp>
    </p:spTree>
    <p:extLst>
      <p:ext uri="{BB962C8B-B14F-4D97-AF65-F5344CB8AC3E}">
        <p14:creationId xmlns:p14="http://schemas.microsoft.com/office/powerpoint/2010/main" val="12358246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𐑦 – </a:t>
            </a:r>
            <a:r>
              <a:rPr lang="en-US" b="1" u="sng" dirty="0"/>
              <a:t>i</a:t>
            </a:r>
            <a:r>
              <a:rPr lang="en-US" dirty="0"/>
              <a:t>f     “</a:t>
            </a:r>
            <a:r>
              <a:rPr lang="en-US" dirty="0" err="1"/>
              <a:t>happY</a:t>
            </a:r>
            <a:r>
              <a:rPr lang="en-US" dirty="0"/>
              <a:t> tensing”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4479518" cy="4114800"/>
          </a:xfrm>
        </p:spPr>
        <p:txBody>
          <a:bodyPr anchor="t"/>
          <a:lstStyle/>
          <a:p>
            <a:r>
              <a:rPr lang="en-US" dirty="0"/>
              <a:t>already→  𐑷𐑤𐑮𐑧𐑛𐑦</a:t>
            </a:r>
          </a:p>
          <a:p>
            <a:r>
              <a:rPr lang="en-US" dirty="0"/>
              <a:t>any → 𐑧𐑯𐑦</a:t>
            </a:r>
          </a:p>
          <a:p>
            <a:r>
              <a:rPr lang="en-US" dirty="0"/>
              <a:t>every → 𐑧𐑝𐑮𐑦</a:t>
            </a:r>
          </a:p>
          <a:p>
            <a:pPr rtl="0"/>
            <a:r>
              <a:rPr lang="en-US" dirty="0"/>
              <a:t>many → 𐑥𐑧𐑯𐑦</a:t>
            </a:r>
          </a:p>
          <a:p>
            <a:pPr rtl="0"/>
            <a:r>
              <a:rPr lang="en-US" dirty="0"/>
              <a:t>money → 𐑥𐑳𐑯𐑦</a:t>
            </a:r>
          </a:p>
          <a:p>
            <a:pPr rtl="0"/>
            <a:r>
              <a:rPr lang="en-US" dirty="0"/>
              <a:t>only → 𐑴𐑯𐑤𐑦</a:t>
            </a:r>
          </a:p>
          <a:p>
            <a:pPr rtl="0"/>
            <a:r>
              <a:rPr lang="en-US" dirty="0"/>
              <a:t>sincerely → 𐑕𐑦𐑯𐑕𐑽𐑤𐑦</a:t>
            </a:r>
          </a:p>
          <a:p>
            <a:pPr rtl="0"/>
            <a:r>
              <a:rPr lang="en-US" dirty="0"/>
              <a:t>truly → 𐑑𐑮𐑵𐑤𐑦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CA71F-A481-9437-BB99-7606D747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308" y="2044700"/>
            <a:ext cx="2641005" cy="4114800"/>
          </a:xfrm>
        </p:spPr>
        <p:txBody>
          <a:bodyPr anchor="t"/>
          <a:lstStyle/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rtl="0"/>
            <a:r>
              <a:rPr lang="en-US" dirty="0"/>
              <a:t>vary → 𐑝𐑺𐑦</a:t>
            </a:r>
          </a:p>
          <a:p>
            <a:pPr rtl="0"/>
            <a:r>
              <a:rPr lang="en-US" dirty="0"/>
              <a:t>very → 𐑝𐑧𐑮𐑦</a:t>
            </a:r>
          </a:p>
          <a:p>
            <a:pPr rtl="0"/>
            <a:endParaRPr lang="en-US" dirty="0"/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0066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B92-5501-37E2-3412-CDFADE63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𐑾 – </a:t>
            </a:r>
            <a:r>
              <a:rPr lang="en-US" b="1" u="sng" dirty="0"/>
              <a:t>Ia</a:t>
            </a:r>
            <a:r>
              <a:rPr lang="en-US" dirty="0"/>
              <a:t>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86C8-0F26-59B7-7B78-53F550A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968" y="2044700"/>
            <a:ext cx="6069632" cy="4114800"/>
          </a:xfrm>
        </p:spPr>
        <p:txBody>
          <a:bodyPr anchor="t"/>
          <a:lstStyle/>
          <a:p>
            <a:r>
              <a:rPr lang="en-US" dirty="0"/>
              <a:t>really → 𐑮𐑾𐑤𐑦</a:t>
            </a:r>
          </a:p>
          <a:p>
            <a:pPr rtl="0"/>
            <a:r>
              <a:rPr lang="en-US" dirty="0"/>
              <a:t>cordially → 𐑒𐑹𐑛𐑾𐑤𐑦</a:t>
            </a:r>
          </a:p>
          <a:p>
            <a:r>
              <a:rPr lang="en-US" dirty="0"/>
              <a:t>Shavian → ·𐑖𐑱𐑝𐑾𐑯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5D032-0511-3FF1-D240-B1215C6B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20447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882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46B1-0346-AC45-5DB5-327BA2B4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Review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72000A-2770-DFCB-426A-49F0061F0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4912" y="2095500"/>
            <a:ext cx="317780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CAEA8-7808-0982-EC60-B85C4EA7B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115" y="2095499"/>
            <a:ext cx="3177805" cy="41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83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9DD2-CC4D-4413-DD05-288DA063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Alphabet</a:t>
            </a:r>
            <a:br>
              <a:rPr lang="en-US" dirty="0"/>
            </a:br>
            <a:r>
              <a:rPr lang="en-US"/>
              <a:t>𐑞 𐑨𐑤𐑓𐑩𐑚𐑧𐑑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AB4D-16BA-5563-F11F-5589E9AEE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4000" dirty="0"/>
              <a:t>𐑐 𐑚 𐑑 𐑛 𐑒 𐑜 𐑓 𐑝 𐑔 𐑞 𐑕 𐑟 𐑖 𐑠 𐑗 𐑡 𐑘 𐑢 𐑙 𐑣</a:t>
            </a:r>
          </a:p>
          <a:p>
            <a:pPr marL="0" indent="0" algn="ctr">
              <a:buNone/>
            </a:pPr>
            <a:r>
              <a:rPr lang="en-US" sz="4000" dirty="0"/>
              <a:t>𐑤 𐑮 𐑥 𐑯 𐑦 𐑰 𐑧 𐑱 𐑨 𐑲 𐑩 𐑳 𐑪 𐑴 𐑫 𐑵 𐑬 𐑶 𐑭 𐑷</a:t>
            </a:r>
          </a:p>
          <a:p>
            <a:pPr marL="0" indent="0" algn="ctr">
              <a:buNone/>
            </a:pPr>
            <a:r>
              <a:rPr lang="en-US" sz="4000" dirty="0"/>
              <a:t>𐑸 𐑹 𐑺 𐑻 𐑼 𐑽 𐑾 𐑿</a:t>
            </a:r>
          </a:p>
        </p:txBody>
      </p:sp>
    </p:spTree>
    <p:extLst>
      <p:ext uri="{BB962C8B-B14F-4D97-AF65-F5344CB8AC3E}">
        <p14:creationId xmlns:p14="http://schemas.microsoft.com/office/powerpoint/2010/main" val="12207600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E4A2-417E-D187-991F-7E8CC3EB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Alphabetical Order</a:t>
            </a:r>
            <a:br>
              <a:rPr lang="en-US" dirty="0"/>
            </a:br>
            <a:r>
              <a:rPr lang="en-US" dirty="0"/>
              <a:t>𐑨𐑤𐑓𐑩𐑚𐑧𐑑𐑦𐑒𐑩𐑤 𐑹𐑛𐑼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8304F4-29CE-3BCA-0635-AD4675994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7583" y="2044700"/>
            <a:ext cx="5815634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CEF701-0E67-9DFC-83F4-581186E15ABA}"/>
              </a:ext>
            </a:extLst>
          </p:cNvPr>
          <p:cNvSpPr txBox="1"/>
          <p:nvPr/>
        </p:nvSpPr>
        <p:spPr>
          <a:xfrm>
            <a:off x="2520763" y="6208067"/>
            <a:ext cx="5169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i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Replace clip art with drawings. </a:t>
            </a:r>
          </a:p>
        </p:txBody>
      </p:sp>
    </p:spTree>
    <p:extLst>
      <p:ext uri="{BB962C8B-B14F-4D97-AF65-F5344CB8AC3E}">
        <p14:creationId xmlns:p14="http://schemas.microsoft.com/office/powerpoint/2010/main" val="42150301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37BE-7EB0-14FE-4EE2-BA92AC77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142" y="28477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The Alphabet</a:t>
            </a:r>
            <a:br>
              <a:rPr lang="en-US" dirty="0"/>
            </a:br>
            <a:r>
              <a:rPr lang="en-Shaw-GB" dirty="0"/>
              <a:t>𐑞 𐑨𐑤𐑓𐑩𐑚𐑧𐑑</a:t>
            </a:r>
            <a:endParaRPr lang="en-US" dirty="0"/>
          </a:p>
        </p:txBody>
      </p:sp>
      <p:pic>
        <p:nvPicPr>
          <p:cNvPr id="4099" name="Content Placeholder 4">
            <a:extLst>
              <a:ext uri="{FF2B5EF4-FFF2-40B4-BE49-F238E27FC236}">
                <a16:creationId xmlns:a16="http://schemas.microsoft.com/office/drawing/2014/main" id="{9D3039AA-455D-17A0-B27A-055BD743FB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7525" y="2044700"/>
            <a:ext cx="6635750" cy="4114800"/>
          </a:xfr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C082-E540-2F76-8925-AF21F739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International Phenetic Alphabet (IPA)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62D83-15EB-E43D-0D08-27734E0BA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 b t d k ɡ f v </a:t>
            </a:r>
            <a:r>
              <a:rPr lang="el-GR" dirty="0"/>
              <a:t>θ </a:t>
            </a:r>
            <a:r>
              <a:rPr lang="en-US" dirty="0"/>
              <a:t>ð s z ʃ ʒ ʧ ʤ j w ŋ h</a:t>
            </a:r>
            <a:br>
              <a:rPr lang="en-US" dirty="0"/>
            </a:br>
            <a:r>
              <a:rPr lang="en-US" dirty="0"/>
              <a:t>l r m n </a:t>
            </a:r>
            <a:r>
              <a:rPr lang="en-US" dirty="0">
                <a:solidFill>
                  <a:srgbClr val="FF0000"/>
                </a:solidFill>
              </a:rPr>
              <a:t>ɪ/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ː ɛ </a:t>
            </a:r>
            <a:r>
              <a:rPr lang="en-US" dirty="0" err="1"/>
              <a:t>eɪ</a:t>
            </a:r>
            <a:r>
              <a:rPr lang="en-US" dirty="0"/>
              <a:t> æ </a:t>
            </a:r>
            <a:r>
              <a:rPr lang="en-US" dirty="0" err="1"/>
              <a:t>aɪ</a:t>
            </a:r>
            <a:r>
              <a:rPr lang="en-US" dirty="0"/>
              <a:t> ə ʌ ɒ </a:t>
            </a:r>
            <a:r>
              <a:rPr lang="en-US" dirty="0" err="1"/>
              <a:t>əʊ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ʊ/u</a:t>
            </a:r>
            <a:r>
              <a:rPr lang="en-US" dirty="0"/>
              <a:t> </a:t>
            </a:r>
            <a:r>
              <a:rPr lang="en-US" dirty="0" err="1"/>
              <a:t>u</a:t>
            </a:r>
            <a:r>
              <a:rPr lang="en-US" dirty="0"/>
              <a:t>ː </a:t>
            </a:r>
            <a:r>
              <a:rPr lang="en-US" dirty="0" err="1"/>
              <a:t>aʊ</a:t>
            </a:r>
            <a:r>
              <a:rPr lang="en-US" dirty="0"/>
              <a:t> </a:t>
            </a:r>
            <a:r>
              <a:rPr lang="en-US" dirty="0" err="1"/>
              <a:t>ɔɪ</a:t>
            </a:r>
            <a:r>
              <a:rPr lang="en-US" dirty="0"/>
              <a:t> ɑː ɔː </a:t>
            </a:r>
          </a:p>
          <a:p>
            <a:pPr>
              <a:defRPr/>
            </a:pPr>
            <a:r>
              <a:rPr lang="en-US" dirty="0"/>
              <a:t>/ɑː(r)/  /ɔː(r)/  /</a:t>
            </a:r>
            <a:r>
              <a:rPr lang="en-US" dirty="0" err="1"/>
              <a:t>ɛə</a:t>
            </a:r>
            <a:r>
              <a:rPr lang="en-US" dirty="0"/>
              <a:t>(r)/  /</a:t>
            </a:r>
            <a:r>
              <a:rPr lang="en-US" dirty="0">
                <a:solidFill>
                  <a:srgbClr val="FF0000"/>
                </a:solidFill>
              </a:rPr>
              <a:t>ɜː</a:t>
            </a:r>
            <a:r>
              <a:rPr lang="en-US" dirty="0"/>
              <a:t>(r)/  /ə(r)/  /</a:t>
            </a:r>
            <a:r>
              <a:rPr lang="en-US" dirty="0" err="1"/>
              <a:t>ɪə</a:t>
            </a:r>
            <a:r>
              <a:rPr lang="en-US" dirty="0"/>
              <a:t>(r)/  /</a:t>
            </a:r>
            <a:r>
              <a:rPr lang="en-US" dirty="0" err="1"/>
              <a:t>ɪə</a:t>
            </a:r>
            <a:r>
              <a:rPr lang="en-US" dirty="0"/>
              <a:t>/  /</a:t>
            </a:r>
            <a:r>
              <a:rPr lang="en-US" dirty="0" err="1"/>
              <a:t>ju</a:t>
            </a:r>
            <a:r>
              <a:rPr lang="en-US" dirty="0"/>
              <a:t>ː/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gh voltage">
  <a:themeElements>
    <a:clrScheme name="high voltage 1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6666FF"/>
      </a:hlink>
      <a:folHlink>
        <a:srgbClr val="1C6D9A"/>
      </a:folHlink>
    </a:clrScheme>
    <a:fontScheme name="Shavian (Inter Alia)">
      <a:majorFont>
        <a:latin typeface="Inter Alia Extra Bold"/>
        <a:ea typeface=""/>
        <a:cs typeface=""/>
      </a:majorFont>
      <a:minorFont>
        <a:latin typeface="Inter Al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high voltage 1">
        <a:dk1>
          <a:srgbClr val="001932"/>
        </a:dk1>
        <a:lt1>
          <a:srgbClr val="FFFFFF"/>
        </a:lt1>
        <a:dk2>
          <a:srgbClr val="2181B7"/>
        </a:dk2>
        <a:lt2>
          <a:srgbClr val="CCFFFF"/>
        </a:lt2>
        <a:accent1>
          <a:srgbClr val="99FFCC"/>
        </a:accent1>
        <a:accent2>
          <a:srgbClr val="01B0FF"/>
        </a:accent2>
        <a:accent3>
          <a:srgbClr val="ABC1D8"/>
        </a:accent3>
        <a:accent4>
          <a:srgbClr val="DADADA"/>
        </a:accent4>
        <a:accent5>
          <a:srgbClr val="CAFFE2"/>
        </a:accent5>
        <a:accent6>
          <a:srgbClr val="019FE7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gh voltag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66699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B9B9E7"/>
        </a:accent6>
        <a:hlink>
          <a:srgbClr val="CC00C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gh voltag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gh voltage 4">
        <a:dk1>
          <a:srgbClr val="000000"/>
        </a:dk1>
        <a:lt1>
          <a:srgbClr val="FFFFCC"/>
        </a:lt1>
        <a:dk2>
          <a:srgbClr val="FF6600"/>
        </a:dk2>
        <a:lt2>
          <a:srgbClr val="333300"/>
        </a:lt2>
        <a:accent1>
          <a:srgbClr val="800000"/>
        </a:accent1>
        <a:accent2>
          <a:srgbClr val="CC6600"/>
        </a:accent2>
        <a:accent3>
          <a:srgbClr val="FFFFE2"/>
        </a:accent3>
        <a:accent4>
          <a:srgbClr val="000000"/>
        </a:accent4>
        <a:accent5>
          <a:srgbClr val="C0AAAA"/>
        </a:accent5>
        <a:accent6>
          <a:srgbClr val="B95C00"/>
        </a:accent6>
        <a:hlink>
          <a:srgbClr val="8080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gh voltage 5">
        <a:dk1>
          <a:srgbClr val="1C3956"/>
        </a:dk1>
        <a:lt1>
          <a:srgbClr val="FFFFFF"/>
        </a:lt1>
        <a:dk2>
          <a:srgbClr val="003366"/>
        </a:dk2>
        <a:lt2>
          <a:srgbClr val="DDDDDD"/>
        </a:lt2>
        <a:accent1>
          <a:srgbClr val="3D7CBB"/>
        </a:accent1>
        <a:accent2>
          <a:srgbClr val="00152A"/>
        </a:accent2>
        <a:accent3>
          <a:srgbClr val="AAADB8"/>
        </a:accent3>
        <a:accent4>
          <a:srgbClr val="DADADA"/>
        </a:accent4>
        <a:accent5>
          <a:srgbClr val="AFBFDA"/>
        </a:accent5>
        <a:accent6>
          <a:srgbClr val="001225"/>
        </a:accent6>
        <a:hlink>
          <a:srgbClr val="33CCCC"/>
        </a:hlink>
        <a:folHlink>
          <a:srgbClr val="96B9D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gh voltage 6">
        <a:dk1>
          <a:srgbClr val="000000"/>
        </a:dk1>
        <a:lt1>
          <a:srgbClr val="FFFFFF"/>
        </a:lt1>
        <a:dk2>
          <a:srgbClr val="440044"/>
        </a:dk2>
        <a:lt2>
          <a:srgbClr val="491D49"/>
        </a:lt2>
        <a:accent1>
          <a:srgbClr val="9D9DBD"/>
        </a:accent1>
        <a:accent2>
          <a:srgbClr val="14213C"/>
        </a:accent2>
        <a:accent3>
          <a:srgbClr val="FFFFFF"/>
        </a:accent3>
        <a:accent4>
          <a:srgbClr val="000000"/>
        </a:accent4>
        <a:accent5>
          <a:srgbClr val="CCCCDB"/>
        </a:accent5>
        <a:accent6>
          <a:srgbClr val="111D35"/>
        </a:accent6>
        <a:hlink>
          <a:srgbClr val="666699"/>
        </a:hlink>
        <a:folHlink>
          <a:srgbClr val="DBDBF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gh voltage 7">
        <a:dk1>
          <a:srgbClr val="000000"/>
        </a:dk1>
        <a:lt1>
          <a:srgbClr val="FFFFFF"/>
        </a:lt1>
        <a:dk2>
          <a:srgbClr val="000000"/>
        </a:dk2>
        <a:lt2>
          <a:srgbClr val="001A00"/>
        </a:lt2>
        <a:accent1>
          <a:srgbClr val="339966"/>
        </a:accent1>
        <a:accent2>
          <a:srgbClr val="003300"/>
        </a:accent2>
        <a:accent3>
          <a:srgbClr val="FFFFFF"/>
        </a:accent3>
        <a:accent4>
          <a:srgbClr val="000000"/>
        </a:accent4>
        <a:accent5>
          <a:srgbClr val="ADCAB8"/>
        </a:accent5>
        <a:accent6>
          <a:srgbClr val="002D00"/>
        </a:accent6>
        <a:hlink>
          <a:srgbClr val="FF9933"/>
        </a:hlink>
        <a:folHlink>
          <a:srgbClr val="AFE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gh voltage 8">
        <a:dk1>
          <a:srgbClr val="000000"/>
        </a:dk1>
        <a:lt1>
          <a:srgbClr val="FFFFFF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D60093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C20085"/>
        </a:accent6>
        <a:hlink>
          <a:srgbClr val="9966FF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 (x86)\Microsoft Office\Templates\Presentation Designs\high voltage.pot</Template>
  <TotalTime>5</TotalTime>
  <Words>105</Words>
  <Application>Microsoft Office PowerPoint</Application>
  <PresentationFormat>On-screen Show (4:3)</PresentationFormat>
  <Paragraphs>6</Paragraphs>
  <Slides>72</Slides>
  <Notes>2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high voltage</vt:lpstr>
      <vt:lpstr>The English Alphabet 𐑞 𐑦𐑙𐑜𐑤𐑦𐑖 𐑨𐑤𐑓𐑩𐑚𐑧𐑑 </vt:lpstr>
      <vt:lpstr>Spelling Help</vt:lpstr>
      <vt:lpstr>Spelling Help</vt:lpstr>
      <vt:lpstr>Why is spelling difficult?</vt:lpstr>
      <vt:lpstr>Why is spelling difficult?</vt:lpstr>
      <vt:lpstr>The Alphabet</vt:lpstr>
      <vt:lpstr>Pronunciation</vt:lpstr>
      <vt:lpstr>Pronunciation</vt:lpstr>
      <vt:lpstr>Spelling = Pronunciation</vt:lpstr>
      <vt:lpstr>Spelling = Pronunciation</vt:lpstr>
      <vt:lpstr>Spelling = Pronunciation</vt:lpstr>
      <vt:lpstr>Let’s fix it!</vt:lpstr>
      <vt:lpstr>Let’s fix it!</vt:lpstr>
      <vt:lpstr>Let’s fix it!</vt:lpstr>
      <vt:lpstr>Let’s fix it!</vt:lpstr>
      <vt:lpstr>Let’s fix it!</vt:lpstr>
      <vt:lpstr>Review</vt:lpstr>
      <vt:lpstr>𐑧 – egg</vt:lpstr>
      <vt:lpstr>𐑩 – ado</vt:lpstr>
      <vt:lpstr>𐑳 – up</vt:lpstr>
      <vt:lpstr>𐑒 – kick</vt:lpstr>
      <vt:lpstr>𐑱 – age</vt:lpstr>
      <vt:lpstr>𐑮 – roar     𐑼 – array      𐑽 – ear</vt:lpstr>
      <vt:lpstr>Review 1</vt:lpstr>
      <vt:lpstr>Review 2</vt:lpstr>
      <vt:lpstr>𐑺 – air     𐑻 – err</vt:lpstr>
      <vt:lpstr>𐑞 – they</vt:lpstr>
      <vt:lpstr>𐑟 – zoo     𐑪 – on</vt:lpstr>
      <vt:lpstr>𐑰 – eat     𐑴 – oak</vt:lpstr>
      <vt:lpstr>𐑨 – ash</vt:lpstr>
      <vt:lpstr>Review 1</vt:lpstr>
      <vt:lpstr>Review 2</vt:lpstr>
      <vt:lpstr>Review 3</vt:lpstr>
      <vt:lpstr>𐑓 – fee</vt:lpstr>
      <vt:lpstr>𐑲 – ice</vt:lpstr>
      <vt:lpstr>𐑣 – haha</vt:lpstr>
      <vt:lpstr>𐑝 – vow</vt:lpstr>
      <vt:lpstr>𐑚 – bib</vt:lpstr>
      <vt:lpstr>𐑫 – wool     𐑵 – ooze</vt:lpstr>
      <vt:lpstr>𐑘 – yea</vt:lpstr>
      <vt:lpstr>Review 1</vt:lpstr>
      <vt:lpstr>Review 2</vt:lpstr>
      <vt:lpstr>Review 3</vt:lpstr>
      <vt:lpstr>Review 4</vt:lpstr>
      <vt:lpstr>𐑿 – yew</vt:lpstr>
      <vt:lpstr>𐑐 – peep     𐑙 – hung</vt:lpstr>
      <vt:lpstr>𐑔 – thigh</vt:lpstr>
      <vt:lpstr>𐑜 – gag</vt:lpstr>
      <vt:lpstr>𐑷 – awe     𐑹 – or</vt:lpstr>
      <vt:lpstr>𐑭 – ah</vt:lpstr>
      <vt:lpstr>Review 1</vt:lpstr>
      <vt:lpstr>Review 2</vt:lpstr>
      <vt:lpstr>Review 3</vt:lpstr>
      <vt:lpstr>Review 4</vt:lpstr>
      <vt:lpstr>Review 5</vt:lpstr>
      <vt:lpstr>𐑸 – are     𐑖 – sure</vt:lpstr>
      <vt:lpstr>𐑗 – church</vt:lpstr>
      <vt:lpstr>𐑬 – out</vt:lpstr>
      <vt:lpstr>𐑡 – judge     𐑠 – measaure       𐑶 – oil</vt:lpstr>
      <vt:lpstr>Review 1</vt:lpstr>
      <vt:lpstr>Review 2</vt:lpstr>
      <vt:lpstr>Review 3</vt:lpstr>
      <vt:lpstr>Review 4</vt:lpstr>
      <vt:lpstr>Review 5</vt:lpstr>
      <vt:lpstr>Review 6</vt:lpstr>
      <vt:lpstr>𐑦 – if     “happY tensing”</vt:lpstr>
      <vt:lpstr>𐑾 – Ian</vt:lpstr>
      <vt:lpstr>Final Review</vt:lpstr>
      <vt:lpstr>The Alphabet 𐑞 𐑨𐑤𐑓𐑩𐑚𐑧𐑑 </vt:lpstr>
      <vt:lpstr>Alphabetical Order 𐑨𐑤𐑓𐑩𐑚𐑧𐑑𐑦𐑒𐑩𐑤 𐑹𐑛𐑼 </vt:lpstr>
      <vt:lpstr>The Alphabet 𐑞 𐑨𐑤𐑓𐑩𐑚𐑧𐑑</vt:lpstr>
      <vt:lpstr>International Phenetic Alphabet (IPA)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Shavian</dc:title>
  <dc:creator>Brandon St.Michael</dc:creator>
  <cp:lastModifiedBy>Brandon St.Michael</cp:lastModifiedBy>
  <cp:revision>50</cp:revision>
  <dcterms:created xsi:type="dcterms:W3CDTF">2026-02-01T21:08:02Z</dcterms:created>
  <dcterms:modified xsi:type="dcterms:W3CDTF">2026-04-10T11:40:49Z</dcterms:modified>
</cp:coreProperties>
</file>